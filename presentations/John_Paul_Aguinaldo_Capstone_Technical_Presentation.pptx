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95" r:id="rId2"/>
    <p:sldId id="2319" r:id="rId3"/>
    <p:sldId id="2320" r:id="rId4"/>
    <p:sldId id="2321" r:id="rId5"/>
    <p:sldId id="2311" r:id="rId6"/>
    <p:sldId id="2323" r:id="rId7"/>
    <p:sldId id="2324" r:id="rId8"/>
    <p:sldId id="2315" r:id="rId9"/>
    <p:sldId id="2316" r:id="rId10"/>
    <p:sldId id="2325" r:id="rId11"/>
    <p:sldId id="2318" r:id="rId12"/>
  </p:sldIdLst>
  <p:sldSz cx="1152207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75A4"/>
    <a:srgbClr val="CC8963"/>
    <a:srgbClr val="609E6E"/>
    <a:srgbClr val="B55D60"/>
    <a:srgbClr val="857AAB"/>
    <a:srgbClr val="4E8F00"/>
    <a:srgbClr val="012369"/>
    <a:srgbClr val="042742"/>
    <a:srgbClr val="032844"/>
    <a:srgbClr val="0229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45" autoAdjust="0"/>
    <p:restoredTop sz="92725" autoAdjust="0"/>
  </p:normalViewPr>
  <p:slideViewPr>
    <p:cSldViewPr>
      <p:cViewPr>
        <p:scale>
          <a:sx n="74" d="100"/>
          <a:sy n="74" d="100"/>
        </p:scale>
        <p:origin x="776" y="-88"/>
      </p:cViewPr>
      <p:guideLst>
        <p:guide orient="horz" pos="2160"/>
        <p:guide pos="362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9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577C4A-6004-4F1F-94DD-7E5B4EA0B542}" type="datetimeFigureOut">
              <a:rPr lang="en-US" smtClean="0"/>
              <a:pPr/>
              <a:t>3/26/26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9275" y="685800"/>
            <a:ext cx="57594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6AF6E-01F1-405C-93E2-11537298160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6AF6E-01F1-405C-93E2-11537298160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8134-CA89-F248-6A35-72DB04F37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4D9481-7F62-FDE4-058C-F9C488D752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B741C5-1635-1EBE-4324-B120DCB98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234B3F-0A21-F04E-891B-22AACF3D24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8EBD8-CB0C-434B-90EB-1461A21AE26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26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6AF6E-01F1-405C-93E2-11537298160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90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4156" y="2130426"/>
            <a:ext cx="9793764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8311" y="3886200"/>
            <a:ext cx="806545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CEE9-A26B-4F4E-A79F-7F30FF5B1B77}" type="datetimeFigureOut">
              <a:rPr lang="en-US" smtClean="0"/>
              <a:pPr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EB09-E919-4193-8DBF-878BC53345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62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CEE9-A26B-4F4E-A79F-7F30FF5B1B77}" type="datetimeFigureOut">
              <a:rPr lang="en-US" smtClean="0"/>
              <a:pPr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EB09-E919-4193-8DBF-878BC53345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0164" y="4406901"/>
            <a:ext cx="9793764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0164" y="2906713"/>
            <a:ext cx="9793764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CEE9-A26B-4F4E-A79F-7F30FF5B1B77}" type="datetimeFigureOut">
              <a:rPr lang="en-US" smtClean="0"/>
              <a:pPr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EB09-E919-4193-8DBF-878BC53345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6132" y="1600201"/>
            <a:ext cx="643715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55326" y="1600201"/>
            <a:ext cx="643715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CEE9-A26B-4F4E-A79F-7F30FF5B1B77}" type="datetimeFigureOut">
              <a:rPr lang="en-US" smtClean="0"/>
              <a:pPr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EB09-E919-4193-8DBF-878BC53345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104" y="274638"/>
            <a:ext cx="1036986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104" y="1535113"/>
            <a:ext cx="5090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6104" y="2174875"/>
            <a:ext cx="5090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53055" y="1535113"/>
            <a:ext cx="5092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53055" y="2174875"/>
            <a:ext cx="5092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CEE9-A26B-4F4E-A79F-7F30FF5B1B77}" type="datetimeFigureOut">
              <a:rPr lang="en-US" smtClean="0"/>
              <a:pPr/>
              <a:t>3/26/26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EB09-E919-4193-8DBF-878BC53345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CEE9-A26B-4F4E-A79F-7F30FF5B1B77}" type="datetimeFigureOut">
              <a:rPr lang="en-US" smtClean="0"/>
              <a:pPr/>
              <a:t>3/26/26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EB09-E919-4193-8DBF-878BC53345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CEE9-A26B-4F4E-A79F-7F30FF5B1B77}" type="datetimeFigureOut">
              <a:rPr lang="en-US" smtClean="0"/>
              <a:pPr/>
              <a:t>3/26/26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EB09-E919-4193-8DBF-878BC53345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105" y="273050"/>
            <a:ext cx="37906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811" y="273051"/>
            <a:ext cx="644116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6105" y="1435101"/>
            <a:ext cx="37906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CEE9-A26B-4F4E-A79F-7F30FF5B1B77}" type="datetimeFigureOut">
              <a:rPr lang="en-US" smtClean="0"/>
              <a:pPr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EB09-E919-4193-8DBF-878BC53345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8407" y="4800600"/>
            <a:ext cx="69132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58407" y="612775"/>
            <a:ext cx="69132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58407" y="5367338"/>
            <a:ext cx="69132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CEE9-A26B-4F4E-A79F-7F30FF5B1B77}" type="datetimeFigureOut">
              <a:rPr lang="en-US" smtClean="0"/>
              <a:pPr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EB09-E919-4193-8DBF-878BC53345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CEE9-A26B-4F4E-A79F-7F30FF5B1B77}" type="datetimeFigureOut">
              <a:rPr lang="en-US" smtClean="0"/>
              <a:pPr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EB09-E919-4193-8DBF-878BC53345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525896" y="274639"/>
            <a:ext cx="3266589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6131" y="274639"/>
            <a:ext cx="960773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CEE9-A26B-4F4E-A79F-7F30FF5B1B77}" type="datetimeFigureOut">
              <a:rPr lang="en-US" smtClean="0"/>
              <a:pPr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EB09-E919-4193-8DBF-878BC53345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6104" y="274638"/>
            <a:ext cx="1036986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104" y="1600201"/>
            <a:ext cx="103698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6104" y="6356351"/>
            <a:ext cx="2688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Helvetica" pitchFamily="2" charset="0"/>
              </a:defRPr>
            </a:lvl1pPr>
          </a:lstStyle>
          <a:p>
            <a:fld id="{A9DFCEE9-A26B-4F4E-A79F-7F30FF5B1B77}" type="datetimeFigureOut">
              <a:rPr lang="en-US" smtClean="0"/>
              <a:pPr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6709" y="6356351"/>
            <a:ext cx="36486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Helvetica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57487" y="6356351"/>
            <a:ext cx="2688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Helvetica" pitchFamily="2" charset="0"/>
              </a:defRPr>
            </a:lvl1pPr>
          </a:lstStyle>
          <a:p>
            <a:fld id="{4EB1EB09-E919-4193-8DBF-878BC53345D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www.kaggle.com/datasets/mlg-ulb/creditcardfraud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1;p19">
            <a:extLst>
              <a:ext uri="{FF2B5EF4-FFF2-40B4-BE49-F238E27FC236}">
                <a16:creationId xmlns:a16="http://schemas.microsoft.com/office/drawing/2014/main" id="{CE5FABE3-7AC2-28C3-4316-64AA33EEB72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73287" y="5085184"/>
            <a:ext cx="10575500" cy="1144716"/>
          </a:xfrm>
          <a:prstGeom prst="rect">
            <a:avLst/>
          </a:prstGeom>
        </p:spPr>
        <p:txBody>
          <a:bodyPr spcFirstLastPara="1" vert="horz" wrap="square" lIns="115202" tIns="115202" rIns="115202" bIns="115202" rtlCol="0" anchor="b" anchorCtr="0">
            <a:normAutofit/>
          </a:bodyPr>
          <a:lstStyle/>
          <a:p>
            <a:pPr algn="l">
              <a:buClr>
                <a:schemeClr val="dk1"/>
              </a:buClr>
            </a:pPr>
            <a:r>
              <a:rPr lang="en-GB" sz="2400" b="1" dirty="0">
                <a:solidFill>
                  <a:schemeClr val="accent4"/>
                </a:solidFill>
                <a:latin typeface="Helvetica" pitchFamily="2" charset="0"/>
              </a:rPr>
              <a:t>John Paul Aguinaldo</a:t>
            </a:r>
            <a:br>
              <a:rPr lang="en-GB" sz="2268" dirty="0">
                <a:solidFill>
                  <a:schemeClr val="accent3"/>
                </a:solidFill>
                <a:latin typeface="Helvetica" pitchFamily="2" charset="0"/>
              </a:rPr>
            </a:br>
            <a:r>
              <a:rPr lang="en-GB" sz="1600" dirty="0">
                <a:solidFill>
                  <a:schemeClr val="accent3"/>
                </a:solidFill>
                <a:latin typeface="Helvetica" pitchFamily="2" charset="0"/>
              </a:rPr>
              <a:t>Post-Graduate Diploma in AI and Machine Learning</a:t>
            </a:r>
            <a:br>
              <a:rPr lang="en-GB" sz="1600" dirty="0">
                <a:solidFill>
                  <a:schemeClr val="accent3"/>
                </a:solidFill>
                <a:latin typeface="Helvetica" pitchFamily="2" charset="0"/>
              </a:rPr>
            </a:br>
            <a:r>
              <a:rPr lang="en-GB" sz="1600" dirty="0">
                <a:solidFill>
                  <a:schemeClr val="accent3"/>
                </a:solidFill>
                <a:latin typeface="Helvetica" pitchFamily="2" charset="0"/>
              </a:rPr>
              <a:t>March 2026</a:t>
            </a:r>
          </a:p>
        </p:txBody>
      </p:sp>
      <p:sp>
        <p:nvSpPr>
          <p:cNvPr id="2" name="Google Shape;71;p19">
            <a:extLst>
              <a:ext uri="{FF2B5EF4-FFF2-40B4-BE49-F238E27FC236}">
                <a16:creationId xmlns:a16="http://schemas.microsoft.com/office/drawing/2014/main" id="{60B6AF63-0365-58B4-23DD-1E190E5FB1D1}"/>
              </a:ext>
            </a:extLst>
          </p:cNvPr>
          <p:cNvSpPr txBox="1">
            <a:spLocks/>
          </p:cNvSpPr>
          <p:nvPr/>
        </p:nvSpPr>
        <p:spPr>
          <a:xfrm>
            <a:off x="473288" y="1916832"/>
            <a:ext cx="10575500" cy="2578988"/>
          </a:xfrm>
          <a:prstGeom prst="rect">
            <a:avLst/>
          </a:prstGeom>
        </p:spPr>
        <p:txBody>
          <a:bodyPr spcFirstLastPara="1" vert="horz" wrap="square" lIns="115202" tIns="115202" rIns="115202" bIns="115202" rtlCol="0" anchor="b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Helvetica" pitchFamily="2" charset="0"/>
                <a:ea typeface="+mj-ea"/>
                <a:cs typeface="+mj-cs"/>
              </a:defRPr>
            </a:lvl1pPr>
          </a:lstStyle>
          <a:p>
            <a:pPr algn="l">
              <a:buClr>
                <a:schemeClr val="dk1"/>
              </a:buClr>
            </a:pPr>
            <a:r>
              <a:rPr lang="en-GB" sz="2000" b="1" dirty="0">
                <a:solidFill>
                  <a:schemeClr val="accent4"/>
                </a:solidFill>
              </a:rPr>
              <a:t>CAPSTONE PROJECT - TECHNICAL PRESENTATION</a:t>
            </a:r>
            <a:br>
              <a:rPr lang="en-GB" sz="2800" b="1" dirty="0">
                <a:solidFill>
                  <a:schemeClr val="accent3"/>
                </a:solidFill>
              </a:rPr>
            </a:br>
            <a:r>
              <a:rPr lang="en-GB" sz="6000" b="1" dirty="0">
                <a:solidFill>
                  <a:schemeClr val="accent3"/>
                </a:solidFill>
              </a:rPr>
              <a:t>Fraud Detection Using Machine Learning</a:t>
            </a:r>
            <a:endParaRPr lang="en-GB" sz="16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92216-3353-5CCB-E01F-34EF33CB5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E2EAB63-8E89-11DC-2885-B361BEC482A8}"/>
              </a:ext>
            </a:extLst>
          </p:cNvPr>
          <p:cNvSpPr/>
          <p:nvPr/>
        </p:nvSpPr>
        <p:spPr>
          <a:xfrm>
            <a:off x="1155979" y="1196686"/>
            <a:ext cx="2843842" cy="44643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37139F-C672-5F8A-2937-2B85BB1B3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03" y="533480"/>
            <a:ext cx="10389071" cy="298548"/>
          </a:xfrm>
        </p:spPr>
        <p:txBody>
          <a:bodyPr>
            <a:noAutofit/>
          </a:bodyPr>
          <a:lstStyle/>
          <a:p>
            <a:pPr algn="l"/>
            <a:r>
              <a:rPr lang="en-PH" sz="1764" b="1" dirty="0">
                <a:solidFill>
                  <a:schemeClr val="accent4"/>
                </a:solidFill>
              </a:rPr>
              <a:t>PROBLEM DEFINITION</a:t>
            </a:r>
            <a:endParaRPr lang="en-US" sz="1764" b="1" dirty="0">
              <a:solidFill>
                <a:schemeClr val="accent4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3C6EB6-C520-1935-8FFB-16DA187D618E}"/>
              </a:ext>
            </a:extLst>
          </p:cNvPr>
          <p:cNvSpPr/>
          <p:nvPr/>
        </p:nvSpPr>
        <p:spPr>
          <a:xfrm>
            <a:off x="4824933" y="1196817"/>
            <a:ext cx="5401751" cy="44643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1A9B0FB-82A6-9B0A-AFEC-BAC0BF7E7ADA}"/>
              </a:ext>
            </a:extLst>
          </p:cNvPr>
          <p:cNvSpPr txBox="1">
            <a:spLocks/>
          </p:cNvSpPr>
          <p:nvPr/>
        </p:nvSpPr>
        <p:spPr>
          <a:xfrm>
            <a:off x="1369594" y="1356878"/>
            <a:ext cx="2286000" cy="587343"/>
          </a:xfrm>
          <a:prstGeom prst="rect">
            <a:avLst/>
          </a:prstGeom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1" dirty="0">
                <a:solidFill>
                  <a:schemeClr val="accent3"/>
                </a:solidFill>
                <a:latin typeface="Helvetica" pitchFamily="2" charset="0"/>
              </a:rPr>
              <a:t>BUSINESS PROBLEM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accent3"/>
                </a:solidFill>
                <a:latin typeface="Helvetica" pitchFamily="2" charset="0"/>
              </a:rPr>
              <a:t>Credit Card Fraud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BD049ADC-9A80-1B79-B371-9C84272A3407}"/>
              </a:ext>
            </a:extLst>
          </p:cNvPr>
          <p:cNvSpPr txBox="1">
            <a:spLocks/>
          </p:cNvSpPr>
          <p:nvPr/>
        </p:nvSpPr>
        <p:spPr>
          <a:xfrm>
            <a:off x="1369594" y="2102487"/>
            <a:ext cx="2367908" cy="1554480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3175">
            <a:noFill/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000" b="1" dirty="0">
                <a:solidFill>
                  <a:schemeClr val="bg1"/>
                </a:solidFill>
                <a:latin typeface="Helvetica" pitchFamily="2" charset="0"/>
              </a:rPr>
              <a:t>Business Impact</a:t>
            </a:r>
          </a:p>
          <a:p>
            <a:pPr marL="171450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Direct financial losses</a:t>
            </a:r>
          </a:p>
          <a:p>
            <a:pPr marL="171450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Additional operating costs</a:t>
            </a:r>
          </a:p>
          <a:p>
            <a:pPr marL="171450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Customer dissatisfaction</a:t>
            </a:r>
          </a:p>
          <a:p>
            <a:pPr marL="171450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Regulatory scrutiny</a:t>
            </a:r>
          </a:p>
          <a:p>
            <a:pPr marL="171450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Reputational damage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2762F1-3BCC-2621-FEA3-C103ED54866E}"/>
              </a:ext>
            </a:extLst>
          </p:cNvPr>
          <p:cNvSpPr txBox="1">
            <a:spLocks/>
          </p:cNvSpPr>
          <p:nvPr/>
        </p:nvSpPr>
        <p:spPr>
          <a:xfrm>
            <a:off x="4974693" y="1348011"/>
            <a:ext cx="4817640" cy="587343"/>
          </a:xfrm>
          <a:prstGeom prst="rect">
            <a:avLst/>
          </a:prstGeom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" b="1" dirty="0">
                <a:solidFill>
                  <a:schemeClr val="accent4"/>
                </a:solidFill>
                <a:latin typeface="Helvetica" pitchFamily="2" charset="0"/>
              </a:rPr>
              <a:t>DATA SCIENCE SOLUTION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accent4"/>
                </a:solidFill>
                <a:latin typeface="Helvetica" pitchFamily="2" charset="0"/>
              </a:rPr>
              <a:t>Machine Learning Model for Fraud Detection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A457533-D0C5-1AB4-077E-978A41FBF482}"/>
              </a:ext>
            </a:extLst>
          </p:cNvPr>
          <p:cNvSpPr txBox="1">
            <a:spLocks/>
          </p:cNvSpPr>
          <p:nvPr/>
        </p:nvSpPr>
        <p:spPr>
          <a:xfrm>
            <a:off x="1370827" y="4145567"/>
            <a:ext cx="2377440" cy="1371600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3175">
            <a:noFill/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000" b="1" dirty="0">
                <a:solidFill>
                  <a:schemeClr val="bg1"/>
                </a:solidFill>
                <a:latin typeface="Helvetica" pitchFamily="2" charset="0"/>
              </a:rPr>
              <a:t>Business KPIs</a:t>
            </a:r>
          </a:p>
          <a:p>
            <a:pPr marL="11887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Fraud loss prevention rate</a:t>
            </a:r>
          </a:p>
          <a:p>
            <a:pPr marL="11887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Fraud detection rate</a:t>
            </a:r>
          </a:p>
          <a:p>
            <a:pPr marL="11887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False positive rate</a:t>
            </a:r>
          </a:p>
          <a:p>
            <a:pPr marL="11887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Manual review efficiency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4AE5AF6-B5EE-1B43-B3E7-5437767826BA}"/>
              </a:ext>
            </a:extLst>
          </p:cNvPr>
          <p:cNvSpPr txBox="1">
            <a:spLocks/>
          </p:cNvSpPr>
          <p:nvPr/>
        </p:nvSpPr>
        <p:spPr>
          <a:xfrm>
            <a:off x="5084617" y="3591782"/>
            <a:ext cx="4297680" cy="100584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 w="3175">
            <a:noFill/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000" b="1" dirty="0">
                <a:solidFill>
                  <a:schemeClr val="bg1"/>
                </a:solidFill>
                <a:latin typeface="Helvetica" pitchFamily="2" charset="0"/>
              </a:rPr>
              <a:t>Model Evaluation</a:t>
            </a:r>
          </a:p>
          <a:p>
            <a:pPr marL="171450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200" b="1" i="1" dirty="0">
                <a:solidFill>
                  <a:schemeClr val="bg1"/>
                </a:solidFill>
                <a:latin typeface="Helvetica" pitchFamily="2" charset="0"/>
              </a:rPr>
              <a:t>Recall:</a:t>
            </a:r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 Primary metric for fraud capture</a:t>
            </a:r>
            <a:endParaRPr lang="en-US" sz="1200" b="1" i="1" dirty="0">
              <a:solidFill>
                <a:schemeClr val="bg1"/>
              </a:solidFill>
              <a:latin typeface="Helvetica" pitchFamily="2" charset="0"/>
            </a:endParaRPr>
          </a:p>
          <a:p>
            <a:pPr marL="171450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200" b="1" i="1" dirty="0">
                <a:solidFill>
                  <a:schemeClr val="bg1"/>
                </a:solidFill>
                <a:latin typeface="Helvetica" pitchFamily="2" charset="0"/>
              </a:rPr>
              <a:t>Precision:</a:t>
            </a:r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 Controls false positives</a:t>
            </a:r>
          </a:p>
          <a:p>
            <a:pPr marL="171450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200" b="1" i="1" dirty="0">
                <a:solidFill>
                  <a:schemeClr val="bg1"/>
                </a:solidFill>
                <a:latin typeface="Helvetica" pitchFamily="2" charset="0"/>
              </a:rPr>
              <a:t>F1 Score:</a:t>
            </a:r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 Balances recall and precision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092CF7B-BC8F-D7D3-D87C-5F2C79B1536A}"/>
              </a:ext>
            </a:extLst>
          </p:cNvPr>
          <p:cNvSpPr txBox="1">
            <a:spLocks/>
          </p:cNvSpPr>
          <p:nvPr/>
        </p:nvSpPr>
        <p:spPr>
          <a:xfrm>
            <a:off x="5084617" y="4731439"/>
            <a:ext cx="4297680" cy="73152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 w="3175">
            <a:noFill/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000" b="1" dirty="0">
                <a:solidFill>
                  <a:schemeClr val="bg1"/>
                </a:solidFill>
                <a:latin typeface="Helvetica" pitchFamily="2" charset="0"/>
              </a:rPr>
              <a:t>Model Comparison</a:t>
            </a:r>
          </a:p>
          <a:p>
            <a:pPr marL="171450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200" b="1" i="1" dirty="0">
                <a:solidFill>
                  <a:schemeClr val="bg1"/>
                </a:solidFill>
                <a:latin typeface="Helvetica" pitchFamily="2" charset="0"/>
              </a:rPr>
              <a:t>ROC-AUC:</a:t>
            </a:r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 Overall discrimination</a:t>
            </a:r>
          </a:p>
          <a:p>
            <a:pPr marL="171450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200" b="1" i="1" dirty="0">
                <a:solidFill>
                  <a:schemeClr val="bg1"/>
                </a:solidFill>
                <a:latin typeface="Helvetica" pitchFamily="2" charset="0"/>
              </a:rPr>
              <a:t>PR-AUC:</a:t>
            </a:r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 Preferred ranking metric under class imbalance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99EA17D-3752-2A76-5BC3-9E1EF234A144}"/>
              </a:ext>
            </a:extLst>
          </p:cNvPr>
          <p:cNvSpPr txBox="1">
            <a:spLocks/>
          </p:cNvSpPr>
          <p:nvPr/>
        </p:nvSpPr>
        <p:spPr>
          <a:xfrm>
            <a:off x="5084617" y="2102487"/>
            <a:ext cx="2286000" cy="4572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accent4"/>
            </a:solidFill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>
                <a:solidFill>
                  <a:schemeClr val="accent4"/>
                </a:solidFill>
                <a:latin typeface="Helvetica" pitchFamily="2" charset="0"/>
              </a:rPr>
              <a:t>Binary Classification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900" i="1" dirty="0">
                <a:solidFill>
                  <a:schemeClr val="accent3"/>
                </a:solidFill>
                <a:latin typeface="Helvetica" pitchFamily="2" charset="0"/>
              </a:rPr>
              <a:t>Outcome: Legitimate or Fraud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FD1CA5-A55E-03E1-9FF5-8AF601CF54E1}"/>
              </a:ext>
            </a:extLst>
          </p:cNvPr>
          <p:cNvSpPr txBox="1">
            <a:spLocks/>
          </p:cNvSpPr>
          <p:nvPr/>
        </p:nvSpPr>
        <p:spPr>
          <a:xfrm>
            <a:off x="7514107" y="2102487"/>
            <a:ext cx="2286000" cy="4572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accent4"/>
            </a:solidFill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>
                <a:solidFill>
                  <a:schemeClr val="accent4"/>
                </a:solidFill>
                <a:latin typeface="Helvetica" pitchFamily="2" charset="0"/>
              </a:rPr>
              <a:t>Supervised Learning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900" i="1" dirty="0">
                <a:solidFill>
                  <a:schemeClr val="accent3"/>
                </a:solidFill>
                <a:latin typeface="Helvetica" pitchFamily="2" charset="0"/>
              </a:rPr>
              <a:t>Labeled outcomes are available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EF50E90-E5F2-4285-8BED-26438D758444}"/>
              </a:ext>
            </a:extLst>
          </p:cNvPr>
          <p:cNvSpPr txBox="1">
            <a:spLocks/>
          </p:cNvSpPr>
          <p:nvPr/>
        </p:nvSpPr>
        <p:spPr>
          <a:xfrm>
            <a:off x="5088747" y="2943710"/>
            <a:ext cx="4711360" cy="45720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 w="3175">
            <a:noFill/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200" b="1" dirty="0">
                <a:solidFill>
                  <a:schemeClr val="bg1"/>
                </a:solidFill>
                <a:latin typeface="Helvetica" pitchFamily="2" charset="0"/>
              </a:rPr>
              <a:t>Credit Card Fraud Classification Model</a:t>
            </a:r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FD33468E-5B67-EA6D-F5CD-65EC7D8DECB1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 rot="16200000" flipH="1">
            <a:off x="6644011" y="2143293"/>
            <a:ext cx="384023" cy="121681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2CA99D49-137F-1478-B71A-B390AD274314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 rot="5400000">
            <a:off x="7858756" y="2145358"/>
            <a:ext cx="384023" cy="121268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04BAF796-2298-50AB-8FE3-F23F65BDCE1A}"/>
              </a:ext>
            </a:extLst>
          </p:cNvPr>
          <p:cNvCxnSpPr>
            <a:cxnSpLocks/>
            <a:stCxn id="16" idx="3"/>
            <a:endCxn id="11" idx="3"/>
          </p:cNvCxnSpPr>
          <p:nvPr/>
        </p:nvCxnSpPr>
        <p:spPr>
          <a:xfrm flipH="1">
            <a:off x="9382297" y="3172310"/>
            <a:ext cx="417810" cy="922392"/>
          </a:xfrm>
          <a:prstGeom prst="bentConnector3">
            <a:avLst>
              <a:gd name="adj1" fmla="val -54714"/>
            </a:avLst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9CB10D5E-0E62-4D75-BE37-93311DEE8B8D}"/>
              </a:ext>
            </a:extLst>
          </p:cNvPr>
          <p:cNvCxnSpPr>
            <a:cxnSpLocks/>
            <a:stCxn id="16" idx="3"/>
            <a:endCxn id="12" idx="3"/>
          </p:cNvCxnSpPr>
          <p:nvPr/>
        </p:nvCxnSpPr>
        <p:spPr>
          <a:xfrm flipH="1">
            <a:off x="9382297" y="3172310"/>
            <a:ext cx="417810" cy="1924889"/>
          </a:xfrm>
          <a:prstGeom prst="bentConnector3">
            <a:avLst>
              <a:gd name="adj1" fmla="val -54714"/>
            </a:avLst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4F9215E1-DB01-1501-E6FE-0542FFD24BAB}"/>
              </a:ext>
            </a:extLst>
          </p:cNvPr>
          <p:cNvCxnSpPr>
            <a:cxnSpLocks/>
            <a:stCxn id="11" idx="1"/>
            <a:endCxn id="4" idx="3"/>
          </p:cNvCxnSpPr>
          <p:nvPr/>
        </p:nvCxnSpPr>
        <p:spPr>
          <a:xfrm rot="10800000" flipV="1">
            <a:off x="3748267" y="4094701"/>
            <a:ext cx="1336350" cy="736665"/>
          </a:xfrm>
          <a:prstGeom prst="bentConnector3">
            <a:avLst>
              <a:gd name="adj1" fmla="val 28228"/>
            </a:avLst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92D7702C-CE3F-5BD5-BE12-FFD967B46504}"/>
              </a:ext>
            </a:extLst>
          </p:cNvPr>
          <p:cNvCxnSpPr>
            <a:cxnSpLocks/>
            <a:stCxn id="4" idx="0"/>
          </p:cNvCxnSpPr>
          <p:nvPr/>
        </p:nvCxnSpPr>
        <p:spPr>
          <a:xfrm rot="5400000" flipH="1" flipV="1">
            <a:off x="2315247" y="3901267"/>
            <a:ext cx="488600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itle 1">
            <a:extLst>
              <a:ext uri="{FF2B5EF4-FFF2-40B4-BE49-F238E27FC236}">
                <a16:creationId xmlns:a16="http://schemas.microsoft.com/office/drawing/2014/main" id="{E689CAA6-1087-7DD0-B9FA-28F2A2F5F69F}"/>
              </a:ext>
            </a:extLst>
          </p:cNvPr>
          <p:cNvSpPr txBox="1">
            <a:spLocks/>
          </p:cNvSpPr>
          <p:nvPr/>
        </p:nvSpPr>
        <p:spPr>
          <a:xfrm>
            <a:off x="4078969" y="5568952"/>
            <a:ext cx="666815" cy="353629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00" dirty="0">
                <a:latin typeface="Helvetica" pitchFamily="2" charset="0"/>
              </a:rPr>
              <a:t>supports</a:t>
            </a:r>
          </a:p>
        </p:txBody>
      </p: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4E2BB480-207D-07AD-4260-EBA770EE714D}"/>
              </a:ext>
            </a:extLst>
          </p:cNvPr>
          <p:cNvCxnSpPr>
            <a:cxnSpLocks/>
            <a:stCxn id="16" idx="3"/>
            <a:endCxn id="4" idx="2"/>
          </p:cNvCxnSpPr>
          <p:nvPr/>
        </p:nvCxnSpPr>
        <p:spPr>
          <a:xfrm flipH="1">
            <a:off x="2559547" y="3172310"/>
            <a:ext cx="7240560" cy="2344857"/>
          </a:xfrm>
          <a:prstGeom prst="bentConnector4">
            <a:avLst>
              <a:gd name="adj1" fmla="val -8922"/>
              <a:gd name="adj2" fmla="val 115658"/>
            </a:avLst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itle 1">
            <a:extLst>
              <a:ext uri="{FF2B5EF4-FFF2-40B4-BE49-F238E27FC236}">
                <a16:creationId xmlns:a16="http://schemas.microsoft.com/office/drawing/2014/main" id="{7DE09634-E06C-5B6E-3A6A-8B3AA675D626}"/>
              </a:ext>
            </a:extLst>
          </p:cNvPr>
          <p:cNvSpPr txBox="1">
            <a:spLocks/>
          </p:cNvSpPr>
          <p:nvPr/>
        </p:nvSpPr>
        <p:spPr>
          <a:xfrm>
            <a:off x="2576790" y="3677353"/>
            <a:ext cx="1171476" cy="446622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000" dirty="0">
                <a:latin typeface="Helvetica" pitchFamily="2" charset="0"/>
              </a:rPr>
              <a:t>Informs decisions to address</a:t>
            </a:r>
          </a:p>
        </p:txBody>
      </p: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9021CFD3-F6EF-85D1-5680-2D7F407E389C}"/>
              </a:ext>
            </a:extLst>
          </p:cNvPr>
          <p:cNvCxnSpPr>
            <a:cxnSpLocks/>
            <a:stCxn id="12" idx="1"/>
            <a:endCxn id="4" idx="3"/>
          </p:cNvCxnSpPr>
          <p:nvPr/>
        </p:nvCxnSpPr>
        <p:spPr>
          <a:xfrm rot="10800000">
            <a:off x="3748267" y="4831367"/>
            <a:ext cx="1336350" cy="265832"/>
          </a:xfrm>
          <a:prstGeom prst="bentConnector3">
            <a:avLst>
              <a:gd name="adj1" fmla="val 28228"/>
            </a:avLst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itle 1">
            <a:extLst>
              <a:ext uri="{FF2B5EF4-FFF2-40B4-BE49-F238E27FC236}">
                <a16:creationId xmlns:a16="http://schemas.microsoft.com/office/drawing/2014/main" id="{04A1C4F0-DB1B-B95D-A579-15944ECB9F7C}"/>
              </a:ext>
            </a:extLst>
          </p:cNvPr>
          <p:cNvSpPr txBox="1">
            <a:spLocks/>
          </p:cNvSpPr>
          <p:nvPr/>
        </p:nvSpPr>
        <p:spPr>
          <a:xfrm>
            <a:off x="4032163" y="4549681"/>
            <a:ext cx="666815" cy="353629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00" dirty="0">
                <a:latin typeface="Helvetica" pitchFamily="2" charset="0"/>
              </a:rPr>
              <a:t>enables</a:t>
            </a:r>
          </a:p>
        </p:txBody>
      </p:sp>
    </p:spTree>
    <p:extLst>
      <p:ext uri="{BB962C8B-B14F-4D97-AF65-F5344CB8AC3E}">
        <p14:creationId xmlns:p14="http://schemas.microsoft.com/office/powerpoint/2010/main" val="1937357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13059-A17F-B177-8A45-A93D97DF7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C13347F-1B3C-F197-FED7-FCE158F1B311}"/>
              </a:ext>
            </a:extLst>
          </p:cNvPr>
          <p:cNvSpPr/>
          <p:nvPr/>
        </p:nvSpPr>
        <p:spPr>
          <a:xfrm>
            <a:off x="7575524" y="3284985"/>
            <a:ext cx="3380049" cy="257024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4D705A-8690-FC6C-23D0-E4413136682B}"/>
              </a:ext>
            </a:extLst>
          </p:cNvPr>
          <p:cNvSpPr/>
          <p:nvPr/>
        </p:nvSpPr>
        <p:spPr>
          <a:xfrm>
            <a:off x="4069397" y="4929763"/>
            <a:ext cx="3383280" cy="1554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502FAB-9D19-EC37-1C02-02A66FD7C9E1}"/>
              </a:ext>
            </a:extLst>
          </p:cNvPr>
          <p:cNvSpPr/>
          <p:nvPr/>
        </p:nvSpPr>
        <p:spPr>
          <a:xfrm>
            <a:off x="4069398" y="3284984"/>
            <a:ext cx="3383280" cy="1554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79F7E9-3D32-B858-BCA2-8FCBDAEAEDA7}"/>
              </a:ext>
            </a:extLst>
          </p:cNvPr>
          <p:cNvSpPr/>
          <p:nvPr/>
        </p:nvSpPr>
        <p:spPr>
          <a:xfrm>
            <a:off x="563270" y="4929763"/>
            <a:ext cx="3383280" cy="1554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6B0E02-D794-0020-66FB-84F8484F3F60}"/>
              </a:ext>
            </a:extLst>
          </p:cNvPr>
          <p:cNvSpPr/>
          <p:nvPr/>
        </p:nvSpPr>
        <p:spPr>
          <a:xfrm>
            <a:off x="563270" y="3285862"/>
            <a:ext cx="3383280" cy="155360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59153F-5612-DDC0-40FA-6C9FF70A00F0}"/>
              </a:ext>
            </a:extLst>
          </p:cNvPr>
          <p:cNvSpPr/>
          <p:nvPr/>
        </p:nvSpPr>
        <p:spPr>
          <a:xfrm>
            <a:off x="576102" y="1124744"/>
            <a:ext cx="10389071" cy="20654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6CF1E8-33DD-B7F0-BCF9-454DC9577EDD}"/>
              </a:ext>
            </a:extLst>
          </p:cNvPr>
          <p:cNvSpPr txBox="1">
            <a:spLocks/>
          </p:cNvSpPr>
          <p:nvPr/>
        </p:nvSpPr>
        <p:spPr>
          <a:xfrm>
            <a:off x="576103" y="533480"/>
            <a:ext cx="10389071" cy="298548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Helvetica" pitchFamily="2" charset="0"/>
                <a:ea typeface="+mj-ea"/>
                <a:cs typeface="+mj-cs"/>
              </a:defRPr>
            </a:lvl1pPr>
          </a:lstStyle>
          <a:p>
            <a:pPr algn="l"/>
            <a:r>
              <a:rPr lang="en-PH" sz="1764" b="1" dirty="0">
                <a:solidFill>
                  <a:schemeClr val="accent4"/>
                </a:solidFill>
              </a:rPr>
              <a:t>DATASET OVERVIEW AND EDA</a:t>
            </a:r>
            <a:endParaRPr lang="en-US" sz="1764" b="1" dirty="0">
              <a:solidFill>
                <a:schemeClr val="accent4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C9500C6-A262-764A-0B17-B814187B62E3}"/>
              </a:ext>
            </a:extLst>
          </p:cNvPr>
          <p:cNvSpPr txBox="1">
            <a:spLocks/>
          </p:cNvSpPr>
          <p:nvPr/>
        </p:nvSpPr>
        <p:spPr>
          <a:xfrm>
            <a:off x="648469" y="1244456"/>
            <a:ext cx="3200400" cy="1844774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>
                <a:solidFill>
                  <a:schemeClr val="accent4"/>
                </a:solidFill>
                <a:latin typeface="Helvetica" pitchFamily="2" charset="0"/>
              </a:rPr>
              <a:t>Dataset Description</a:t>
            </a:r>
          </a:p>
          <a:p>
            <a:pPr marL="115888" indent="-11588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chemeClr val="accent3"/>
                </a:solidFill>
                <a:latin typeface="Helvetica" pitchFamily="2" charset="0"/>
              </a:rPr>
              <a:t>Name: </a:t>
            </a: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Credit Card Fraud Detection</a:t>
            </a:r>
          </a:p>
          <a:p>
            <a:pPr marL="115888" indent="-11588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chemeClr val="accent3"/>
                </a:solidFill>
                <a:latin typeface="Helvetica" pitchFamily="2" charset="0"/>
              </a:rPr>
              <a:t>Source:</a:t>
            </a: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 </a:t>
            </a:r>
            <a:r>
              <a:rPr lang="en-US" sz="1200" dirty="0">
                <a:solidFill>
                  <a:schemeClr val="accent3"/>
                </a:solidFill>
                <a:latin typeface="Helvetica" pitchFamily="2" charset="0"/>
                <a:hlinkClick r:id="rId3"/>
              </a:rPr>
              <a:t>Kaggle</a:t>
            </a: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 </a:t>
            </a:r>
          </a:p>
          <a:p>
            <a:pPr marL="115888" indent="-11588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chemeClr val="accent3"/>
                </a:solidFill>
                <a:latin typeface="Helvetica" pitchFamily="2" charset="0"/>
              </a:rPr>
              <a:t>Description: </a:t>
            </a: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Real-world European credit card transactions made in two days in September 2013</a:t>
            </a:r>
            <a:endParaRPr lang="en-US" sz="1200" b="1" i="1" dirty="0">
              <a:solidFill>
                <a:schemeClr val="accent3"/>
              </a:solidFill>
              <a:latin typeface="Helvetica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63C9CA-A9D7-0422-F9EB-145A6ADD62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05" t="4237"/>
          <a:stretch>
            <a:fillRect/>
          </a:stretch>
        </p:blipFill>
        <p:spPr>
          <a:xfrm>
            <a:off x="625237" y="3486918"/>
            <a:ext cx="1828800" cy="1142598"/>
          </a:xfrm>
          <a:prstGeom prst="rect">
            <a:avLst/>
          </a:prstGeom>
          <a:ln>
            <a:solidFill>
              <a:schemeClr val="accent3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374BEA5-6C7E-D4D8-057C-970A9448CF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10" y="5022539"/>
            <a:ext cx="2147102" cy="1371600"/>
          </a:xfrm>
          <a:prstGeom prst="rect">
            <a:avLst/>
          </a:prstGeom>
          <a:ln>
            <a:solidFill>
              <a:schemeClr val="accent3"/>
            </a:solidFill>
          </a:ln>
        </p:spPr>
      </p:pic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EFE91CD-3630-FA36-44E4-FD7D76FA3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934821"/>
              </p:ext>
            </p:extLst>
          </p:nvPr>
        </p:nvGraphicFramePr>
        <p:xfrm>
          <a:off x="4157592" y="1245913"/>
          <a:ext cx="671601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8693">
                  <a:extLst>
                    <a:ext uri="{9D8B030D-6E8A-4147-A177-3AD203B41FA5}">
                      <a16:colId xmlns:a16="http://schemas.microsoft.com/office/drawing/2014/main" val="337916708"/>
                    </a:ext>
                  </a:extLst>
                </a:gridCol>
                <a:gridCol w="809561">
                  <a:extLst>
                    <a:ext uri="{9D8B030D-6E8A-4147-A177-3AD203B41FA5}">
                      <a16:colId xmlns:a16="http://schemas.microsoft.com/office/drawing/2014/main" val="18902934"/>
                    </a:ext>
                  </a:extLst>
                </a:gridCol>
                <a:gridCol w="698817">
                  <a:extLst>
                    <a:ext uri="{9D8B030D-6E8A-4147-A177-3AD203B41FA5}">
                      <a16:colId xmlns:a16="http://schemas.microsoft.com/office/drawing/2014/main" val="1572206733"/>
                    </a:ext>
                  </a:extLst>
                </a:gridCol>
                <a:gridCol w="4238943">
                  <a:extLst>
                    <a:ext uri="{9D8B030D-6E8A-4147-A177-3AD203B41FA5}">
                      <a16:colId xmlns:a16="http://schemas.microsoft.com/office/drawing/2014/main" val="334947377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Helvetica" pitchFamily="2" charset="0"/>
                        </a:rPr>
                        <a:t>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Helvetica" pitchFamily="2" charset="0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Helvetica" pitchFamily="2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874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itchFamily="2" charset="0"/>
                        </a:rPr>
                        <a:t>Target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Helvetica" pitchFamily="2" charset="0"/>
                        </a:rPr>
                        <a:t>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itchFamily="2" charset="0"/>
                        </a:rPr>
                        <a:t>Integer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Helvetica" pitchFamily="2" charset="0"/>
                        </a:rPr>
                        <a:t>Fraud label: 0 = legitimate, 1 = fraud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613952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itchFamily="2" charset="0"/>
                        </a:rPr>
                        <a:t>Predictors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Helvetica" pitchFamily="2" charset="0"/>
                        </a:rPr>
                        <a:t>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itchFamily="2" charset="0"/>
                        </a:rPr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Helvetica" pitchFamily="2" charset="0"/>
                        </a:rPr>
                        <a:t>Elapsed time in seconds since the first recorded transaction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4532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200" dirty="0">
                        <a:latin typeface="Helvetic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Helvetica" pitchFamily="2" charset="0"/>
                        </a:rPr>
                        <a:t>Amount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itchFamily="2" charset="0"/>
                        </a:rPr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Helvetica" pitchFamily="2" charset="0"/>
                        </a:rPr>
                        <a:t>Transaction amount (Euros)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6693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200" dirty="0">
                        <a:latin typeface="Helvetic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Helvetica" pitchFamily="2" charset="0"/>
                        </a:rPr>
                        <a:t>V1-V30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itchFamily="2" charset="0"/>
                        </a:rPr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Helvetica" pitchFamily="2" charset="0"/>
                        </a:rPr>
                        <a:t>PCA-transformed features, anonymized for data privacy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364257"/>
                  </a:ext>
                </a:extLst>
              </a:tr>
            </a:tbl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53FA08F5-06FF-E057-7ACC-1F4A2A57B6A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960" y="3375283"/>
            <a:ext cx="2187419" cy="1371600"/>
          </a:xfrm>
          <a:prstGeom prst="rect">
            <a:avLst/>
          </a:prstGeom>
          <a:ln>
            <a:solidFill>
              <a:schemeClr val="accent3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9027AFA-E6E2-A586-9B72-EA6155E4583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960" y="5021203"/>
            <a:ext cx="2132649" cy="1371600"/>
          </a:xfrm>
          <a:prstGeom prst="rect">
            <a:avLst/>
          </a:prstGeom>
          <a:ln>
            <a:solidFill>
              <a:schemeClr val="accent3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457F915-5C5F-9315-98EF-DB878776B1E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9763" y="3405447"/>
            <a:ext cx="2743200" cy="1752921"/>
          </a:xfrm>
          <a:prstGeom prst="rect">
            <a:avLst/>
          </a:prstGeom>
          <a:ln>
            <a:solidFill>
              <a:schemeClr val="accent3"/>
            </a:solidFill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F72F6E3-0FA6-BD69-70B6-B5D87C2101B1}"/>
              </a:ext>
            </a:extLst>
          </p:cNvPr>
          <p:cNvSpPr txBox="1">
            <a:spLocks/>
          </p:cNvSpPr>
          <p:nvPr/>
        </p:nvSpPr>
        <p:spPr>
          <a:xfrm>
            <a:off x="2449324" y="3473195"/>
            <a:ext cx="1497226" cy="1170043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900" b="1" dirty="0">
                <a:solidFill>
                  <a:schemeClr val="accent4"/>
                </a:solidFill>
                <a:latin typeface="Helvetica" pitchFamily="2" charset="0"/>
              </a:rPr>
              <a:t>Database Size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~285K transactions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 b="1" dirty="0">
              <a:solidFill>
                <a:schemeClr val="accent3"/>
              </a:solidFill>
              <a:latin typeface="Helvetica" pitchFamily="2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900" b="1" dirty="0">
                <a:solidFill>
                  <a:schemeClr val="accent4"/>
                </a:solidFill>
                <a:latin typeface="Helvetica" pitchFamily="2" charset="0"/>
              </a:rPr>
              <a:t>Data Quality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No missing values,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~1K duplicate rows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FD79777-ACAA-C827-7168-2C632E870F42}"/>
              </a:ext>
            </a:extLst>
          </p:cNvPr>
          <p:cNvSpPr txBox="1">
            <a:spLocks/>
          </p:cNvSpPr>
          <p:nvPr/>
        </p:nvSpPr>
        <p:spPr>
          <a:xfrm>
            <a:off x="2801812" y="5009912"/>
            <a:ext cx="1144738" cy="1384227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900" b="1" dirty="0">
                <a:solidFill>
                  <a:schemeClr val="accent4"/>
                </a:solidFill>
                <a:latin typeface="Helvetica" pitchFamily="2" charset="0"/>
              </a:rPr>
              <a:t>Class Distribution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Severe class imbalance </a:t>
            </a:r>
            <a:r>
              <a:rPr lang="en-US" sz="900" dirty="0">
                <a:solidFill>
                  <a:schemeClr val="accent3"/>
                </a:solidFill>
                <a:latin typeface="Helvetica" pitchFamily="2" charset="0"/>
              </a:rPr>
              <a:t>(~0.17% fraud)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ED7B458-B5FD-DB92-D15C-64343DCCA8E6}"/>
              </a:ext>
            </a:extLst>
          </p:cNvPr>
          <p:cNvSpPr txBox="1">
            <a:spLocks/>
          </p:cNvSpPr>
          <p:nvPr/>
        </p:nvSpPr>
        <p:spPr>
          <a:xfrm>
            <a:off x="6341474" y="3366104"/>
            <a:ext cx="1111203" cy="1384227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900" b="1" dirty="0">
                <a:solidFill>
                  <a:schemeClr val="accent4"/>
                </a:solidFill>
                <a:latin typeface="Helvetica" pitchFamily="2" charset="0"/>
              </a:rPr>
              <a:t>Amount Distribution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Highly right-skewed, with high-value outliers</a:t>
            </a:r>
            <a:endParaRPr lang="en-US" sz="900" dirty="0">
              <a:solidFill>
                <a:schemeClr val="accent3"/>
              </a:solidFill>
              <a:latin typeface="Helvetica" pitchFamily="2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64168AC-26DB-9E1C-0C16-6A635351C0D3}"/>
              </a:ext>
            </a:extLst>
          </p:cNvPr>
          <p:cNvSpPr txBox="1">
            <a:spLocks/>
          </p:cNvSpPr>
          <p:nvPr/>
        </p:nvSpPr>
        <p:spPr>
          <a:xfrm>
            <a:off x="6313041" y="5021204"/>
            <a:ext cx="1111203" cy="1371599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900" b="1" dirty="0">
                <a:solidFill>
                  <a:schemeClr val="accent4"/>
                </a:solidFill>
                <a:latin typeface="Helvetica" pitchFamily="2" charset="0"/>
              </a:rPr>
              <a:t>Time Distribution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Potentially useful time patterns</a:t>
            </a:r>
            <a:endParaRPr lang="en-US" sz="900" dirty="0">
              <a:solidFill>
                <a:schemeClr val="accent3"/>
              </a:solidFill>
              <a:latin typeface="Helvetica" pitchFamily="2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3341B286-2D08-6A89-1CD4-B73866D5607D}"/>
              </a:ext>
            </a:extLst>
          </p:cNvPr>
          <p:cNvSpPr txBox="1">
            <a:spLocks/>
          </p:cNvSpPr>
          <p:nvPr/>
        </p:nvSpPr>
        <p:spPr>
          <a:xfrm>
            <a:off x="7800893" y="5207305"/>
            <a:ext cx="2926080" cy="598988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900" b="1" dirty="0">
                <a:solidFill>
                  <a:schemeClr val="accent4"/>
                </a:solidFill>
                <a:latin typeface="Helvetica" pitchFamily="2" charset="0"/>
              </a:rPr>
              <a:t>Correlation Patterns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Some transformed variables (V) are meaningfully correlated with fraud</a:t>
            </a:r>
            <a:endParaRPr lang="en-US" sz="900" dirty="0">
              <a:solidFill>
                <a:schemeClr val="accent3"/>
              </a:solidFill>
              <a:latin typeface="Helvetica" pitchFamily="2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65114113-3331-C3FE-7B8C-30655AAFA06A}"/>
              </a:ext>
            </a:extLst>
          </p:cNvPr>
          <p:cNvSpPr txBox="1">
            <a:spLocks/>
          </p:cNvSpPr>
          <p:nvPr/>
        </p:nvSpPr>
        <p:spPr>
          <a:xfrm>
            <a:off x="7572293" y="5945344"/>
            <a:ext cx="3383280" cy="538899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 w="3175">
            <a:noFill/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9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Helvetica" pitchFamily="2" charset="0"/>
              </a:rPr>
              <a:t>Implication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Additional feature engineering is required </a:t>
            </a:r>
            <a:endParaRPr lang="en-US" sz="900" dirty="0">
              <a:solidFill>
                <a:schemeClr val="bg1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557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91871-FAF0-E930-4B39-87F3EED51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ABB12EA-2A53-DBB9-8CF0-86FD16B6C632}"/>
              </a:ext>
            </a:extLst>
          </p:cNvPr>
          <p:cNvSpPr/>
          <p:nvPr/>
        </p:nvSpPr>
        <p:spPr>
          <a:xfrm>
            <a:off x="288429" y="1089606"/>
            <a:ext cx="10920706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281C05-CF2A-E60D-2498-2491F2B09D75}"/>
              </a:ext>
            </a:extLst>
          </p:cNvPr>
          <p:cNvSpPr/>
          <p:nvPr/>
        </p:nvSpPr>
        <p:spPr>
          <a:xfrm>
            <a:off x="5539855" y="2159314"/>
            <a:ext cx="5669280" cy="38619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969592-4B88-7608-DE57-C47A518527CE}"/>
              </a:ext>
            </a:extLst>
          </p:cNvPr>
          <p:cNvSpPr/>
          <p:nvPr/>
        </p:nvSpPr>
        <p:spPr>
          <a:xfrm>
            <a:off x="288429" y="2159314"/>
            <a:ext cx="5120640" cy="38619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28CE5F-5E44-E672-753C-945EDDC55C19}"/>
              </a:ext>
            </a:extLst>
          </p:cNvPr>
          <p:cNvSpPr txBox="1">
            <a:spLocks/>
          </p:cNvSpPr>
          <p:nvPr/>
        </p:nvSpPr>
        <p:spPr>
          <a:xfrm>
            <a:off x="576103" y="533480"/>
            <a:ext cx="10389071" cy="298548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Helvetica" pitchFamily="2" charset="0"/>
                <a:ea typeface="+mj-ea"/>
                <a:cs typeface="+mj-cs"/>
              </a:defRPr>
            </a:lvl1pPr>
          </a:lstStyle>
          <a:p>
            <a:pPr algn="l"/>
            <a:r>
              <a:rPr lang="en-PH" sz="1764" b="1" dirty="0">
                <a:solidFill>
                  <a:schemeClr val="accent4"/>
                </a:solidFill>
              </a:rPr>
              <a:t>FEATURE ENGINEERING</a:t>
            </a:r>
            <a:endParaRPr lang="en-US" sz="1764" b="1" dirty="0">
              <a:solidFill>
                <a:schemeClr val="accent4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075D2B-16C5-3109-3E20-DB5B63C941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98" y="2697781"/>
            <a:ext cx="2423161" cy="1554480"/>
          </a:xfrm>
          <a:prstGeom prst="rect">
            <a:avLst/>
          </a:prstGeom>
          <a:ln>
            <a:solidFill>
              <a:schemeClr val="accent4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AAEE8F-1F2E-0EF3-792F-8D9853140E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9535" y="2701694"/>
            <a:ext cx="2313305" cy="1554480"/>
          </a:xfrm>
          <a:prstGeom prst="rect">
            <a:avLst/>
          </a:prstGeom>
          <a:ln>
            <a:solidFill>
              <a:schemeClr val="accent4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01F78A-B1A4-2114-00D1-A10A99DFB9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952" y="2706372"/>
            <a:ext cx="2922207" cy="1554480"/>
          </a:xfrm>
          <a:prstGeom prst="rect">
            <a:avLst/>
          </a:prstGeom>
          <a:ln>
            <a:solidFill>
              <a:schemeClr val="accent4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A488B3-1F11-B5D5-27E7-036E8E4C145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0318" y="2711844"/>
            <a:ext cx="2385695" cy="1554480"/>
          </a:xfrm>
          <a:prstGeom prst="rect">
            <a:avLst/>
          </a:prstGeom>
          <a:ln>
            <a:solidFill>
              <a:schemeClr val="accent4"/>
            </a:solidFill>
          </a:ln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E257AA1-6265-0F62-9632-286402C5CE1E}"/>
              </a:ext>
            </a:extLst>
          </p:cNvPr>
          <p:cNvSpPr txBox="1">
            <a:spLocks/>
          </p:cNvSpPr>
          <p:nvPr/>
        </p:nvSpPr>
        <p:spPr>
          <a:xfrm>
            <a:off x="1315564" y="2304427"/>
            <a:ext cx="3240718" cy="298548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600" b="1" dirty="0">
                <a:solidFill>
                  <a:schemeClr val="accent4"/>
                </a:solidFill>
                <a:latin typeface="Helvetica" pitchFamily="2" charset="0"/>
              </a:rPr>
              <a:t>Engineered Amount Features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C3DF5A4-ABE3-FD44-D18E-24170BC4F24E}"/>
              </a:ext>
            </a:extLst>
          </p:cNvPr>
          <p:cNvSpPr txBox="1">
            <a:spLocks/>
          </p:cNvSpPr>
          <p:nvPr/>
        </p:nvSpPr>
        <p:spPr>
          <a:xfrm>
            <a:off x="443675" y="4322792"/>
            <a:ext cx="2438384" cy="1554480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 err="1">
                <a:solidFill>
                  <a:schemeClr val="accent4"/>
                </a:solidFill>
                <a:latin typeface="Helvetica" pitchFamily="2" charset="0"/>
              </a:rPr>
              <a:t>Log_Amount</a:t>
            </a:r>
            <a:endParaRPr lang="en-US" sz="1200" b="1" dirty="0">
              <a:solidFill>
                <a:schemeClr val="accent4"/>
              </a:solidFill>
              <a:latin typeface="Helvetica" pitchFamily="2" charset="0"/>
            </a:endParaRPr>
          </a:p>
          <a:p>
            <a:pPr marL="114300" indent="-1143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  <a:latin typeface="Helvetica" pitchFamily="2" charset="0"/>
              </a:rPr>
              <a:t>Logarithmic transformation of Amount</a:t>
            </a:r>
          </a:p>
          <a:p>
            <a:pPr marL="114300" indent="-1143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  <a:latin typeface="Helvetica" pitchFamily="2" charset="0"/>
              </a:rPr>
              <a:t>Reduces influence of extreme values without removing them</a:t>
            </a:r>
          </a:p>
          <a:p>
            <a:pPr marL="114300" indent="-1143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900" dirty="0">
              <a:solidFill>
                <a:schemeClr val="accent3"/>
              </a:solidFill>
              <a:latin typeface="Helvetica" pitchFamily="2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900" b="1" dirty="0">
                <a:solidFill>
                  <a:schemeClr val="accent3"/>
                </a:solidFill>
                <a:latin typeface="Helvetica" pitchFamily="2" charset="0"/>
              </a:rPr>
              <a:t>Observations</a:t>
            </a:r>
          </a:p>
          <a:p>
            <a:pPr marL="114300" indent="-1143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  <a:latin typeface="Helvetica" pitchFamily="2" charset="0"/>
              </a:rPr>
              <a:t>Fraud transactions more dispersed</a:t>
            </a:r>
          </a:p>
          <a:p>
            <a:pPr marL="114300" indent="-1143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  <a:latin typeface="Helvetica" pitchFamily="2" charset="0"/>
              </a:rPr>
              <a:t>Fraud not just concentrated on large amounts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01A8274-76EB-5E44-6144-B00B8E06478D}"/>
              </a:ext>
            </a:extLst>
          </p:cNvPr>
          <p:cNvSpPr txBox="1">
            <a:spLocks/>
          </p:cNvSpPr>
          <p:nvPr/>
        </p:nvSpPr>
        <p:spPr>
          <a:xfrm>
            <a:off x="2979535" y="4322792"/>
            <a:ext cx="2313304" cy="1554480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 err="1">
                <a:solidFill>
                  <a:schemeClr val="accent4"/>
                </a:solidFill>
                <a:latin typeface="Helvetica" pitchFamily="2" charset="0"/>
              </a:rPr>
              <a:t>Is_High_Amount</a:t>
            </a:r>
            <a:endParaRPr lang="en-US" sz="1200" b="1" dirty="0">
              <a:solidFill>
                <a:schemeClr val="accent4"/>
              </a:solidFill>
              <a:latin typeface="Helvetica" pitchFamily="2" charset="0"/>
            </a:endParaRPr>
          </a:p>
          <a:p>
            <a:pPr marL="114300" indent="-1143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  <a:latin typeface="Helvetica" pitchFamily="2" charset="0"/>
              </a:rPr>
              <a:t>Binary: 1 if Amount ≥ 95</a:t>
            </a:r>
            <a:r>
              <a:rPr lang="en-US" sz="900" baseline="30000" dirty="0">
                <a:solidFill>
                  <a:schemeClr val="accent3"/>
                </a:solidFill>
                <a:latin typeface="Helvetica" pitchFamily="2" charset="0"/>
              </a:rPr>
              <a:t>th</a:t>
            </a:r>
            <a:r>
              <a:rPr lang="en-US" sz="900" dirty="0">
                <a:solidFill>
                  <a:schemeClr val="accent3"/>
                </a:solidFill>
                <a:latin typeface="Helvetica" pitchFamily="2" charset="0"/>
              </a:rPr>
              <a:t> percentile </a:t>
            </a:r>
          </a:p>
          <a:p>
            <a:pPr marL="114300" indent="-1143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  <a:latin typeface="Helvetica" pitchFamily="2" charset="0"/>
              </a:rPr>
              <a:t>Explores fraud signal of outliers</a:t>
            </a:r>
          </a:p>
          <a:p>
            <a:pPr marL="114300" indent="-1143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900" dirty="0">
              <a:solidFill>
                <a:schemeClr val="accent3"/>
              </a:solidFill>
              <a:latin typeface="Helvetica" pitchFamily="2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900" b="1" dirty="0">
                <a:solidFill>
                  <a:schemeClr val="accent3"/>
                </a:solidFill>
                <a:latin typeface="Helvetica" pitchFamily="2" charset="0"/>
              </a:rPr>
              <a:t>Observation: </a:t>
            </a:r>
            <a:r>
              <a:rPr lang="en-US" sz="900" dirty="0">
                <a:solidFill>
                  <a:schemeClr val="accent3"/>
                </a:solidFill>
                <a:latin typeface="Helvetica" pitchFamily="2" charset="0"/>
              </a:rPr>
              <a:t>Slightly higher fraud rate for high-amount transactions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3212887-BD1C-11A7-AD71-16DF3DE81963}"/>
              </a:ext>
            </a:extLst>
          </p:cNvPr>
          <p:cNvSpPr txBox="1">
            <a:spLocks/>
          </p:cNvSpPr>
          <p:nvPr/>
        </p:nvSpPr>
        <p:spPr>
          <a:xfrm>
            <a:off x="6949179" y="2273239"/>
            <a:ext cx="3240718" cy="298548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600" b="1" dirty="0">
                <a:solidFill>
                  <a:schemeClr val="accent4"/>
                </a:solidFill>
                <a:latin typeface="Helvetica" pitchFamily="2" charset="0"/>
              </a:rPr>
              <a:t>Engineered Time Features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CA671A3-CEE6-EA75-BACC-012A243AD0E1}"/>
              </a:ext>
            </a:extLst>
          </p:cNvPr>
          <p:cNvSpPr txBox="1">
            <a:spLocks/>
          </p:cNvSpPr>
          <p:nvPr/>
        </p:nvSpPr>
        <p:spPr>
          <a:xfrm>
            <a:off x="5661774" y="4322792"/>
            <a:ext cx="2934385" cy="1554481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 err="1">
                <a:solidFill>
                  <a:schemeClr val="accent4"/>
                </a:solidFill>
                <a:latin typeface="Helvetica" pitchFamily="2" charset="0"/>
              </a:rPr>
              <a:t>Hour_Proxy</a:t>
            </a:r>
            <a:endParaRPr lang="en-US" sz="1200" b="1" dirty="0">
              <a:solidFill>
                <a:schemeClr val="accent4"/>
              </a:solidFill>
              <a:latin typeface="Helvetica" pitchFamily="2" charset="0"/>
            </a:endParaRPr>
          </a:p>
          <a:p>
            <a:pPr marL="114300" indent="-1143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  <a:latin typeface="Helvetica" pitchFamily="2" charset="0"/>
              </a:rPr>
              <a:t>Transforms Time into approx. hourly-cycle proxy</a:t>
            </a:r>
          </a:p>
          <a:p>
            <a:pPr marL="114300" indent="-1143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  <a:latin typeface="Helvetica" pitchFamily="2" charset="0"/>
              </a:rPr>
              <a:t>Improves interpretability of timing patterns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900" dirty="0">
              <a:solidFill>
                <a:schemeClr val="accent3"/>
              </a:solidFill>
              <a:latin typeface="Helvetica" pitchFamily="2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 err="1">
                <a:solidFill>
                  <a:schemeClr val="accent4"/>
                </a:solidFill>
                <a:latin typeface="Helvetica" pitchFamily="2" charset="0"/>
              </a:rPr>
              <a:t>Hour_Sin</a:t>
            </a:r>
            <a:r>
              <a:rPr lang="en-US" sz="1200" b="1" dirty="0">
                <a:solidFill>
                  <a:schemeClr val="accent4"/>
                </a:solidFill>
                <a:latin typeface="Helvetica" pitchFamily="2" charset="0"/>
              </a:rPr>
              <a:t> &amp; </a:t>
            </a:r>
            <a:r>
              <a:rPr lang="en-US" sz="1200" b="1" dirty="0" err="1">
                <a:solidFill>
                  <a:schemeClr val="accent4"/>
                </a:solidFill>
                <a:latin typeface="Helvetica" pitchFamily="2" charset="0"/>
              </a:rPr>
              <a:t>Hour_Cos</a:t>
            </a:r>
            <a:endParaRPr lang="en-US" sz="1200" b="1" dirty="0">
              <a:solidFill>
                <a:schemeClr val="accent4"/>
              </a:solidFill>
              <a:latin typeface="Helvetica" pitchFamily="2" charset="0"/>
            </a:endParaRPr>
          </a:p>
          <a:p>
            <a:pPr marL="114300" indent="-1143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  <a:latin typeface="Helvetica" pitchFamily="2" charset="0"/>
              </a:rPr>
              <a:t>Transforms </a:t>
            </a:r>
            <a:r>
              <a:rPr lang="en-US" sz="900" dirty="0" err="1">
                <a:solidFill>
                  <a:schemeClr val="accent3"/>
                </a:solidFill>
                <a:latin typeface="Helvetica" pitchFamily="2" charset="0"/>
              </a:rPr>
              <a:t>Hour_Proxy</a:t>
            </a:r>
            <a:r>
              <a:rPr lang="en-US" sz="900" dirty="0">
                <a:solidFill>
                  <a:schemeClr val="accent3"/>
                </a:solidFill>
                <a:latin typeface="Helvetica" pitchFamily="2" charset="0"/>
              </a:rPr>
              <a:t> into a cyclical variable</a:t>
            </a:r>
          </a:p>
          <a:p>
            <a:pPr marL="114300" indent="-1143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  <a:latin typeface="Helvetica" pitchFamily="2" charset="0"/>
              </a:rPr>
              <a:t>Captures 24-hr nature of time</a:t>
            </a:r>
          </a:p>
          <a:p>
            <a:pPr marL="114300" indent="-1143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900" dirty="0">
              <a:solidFill>
                <a:schemeClr val="accent3"/>
              </a:solidFill>
              <a:latin typeface="Helvetica" pitchFamily="2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900" b="1" dirty="0">
                <a:solidFill>
                  <a:schemeClr val="accent3"/>
                </a:solidFill>
                <a:latin typeface="Helvetica" pitchFamily="2" charset="0"/>
              </a:rPr>
              <a:t>Observation: </a:t>
            </a:r>
            <a:r>
              <a:rPr lang="en-US" sz="900" dirty="0">
                <a:solidFill>
                  <a:schemeClr val="accent3"/>
                </a:solidFill>
                <a:latin typeface="Helvetica" pitchFamily="2" charset="0"/>
              </a:rPr>
              <a:t>Fraud rates higher from Hours 1 to 7 and Hour 11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CDC0090-034D-DACE-78EE-E6ABD71DD505}"/>
              </a:ext>
            </a:extLst>
          </p:cNvPr>
          <p:cNvSpPr txBox="1">
            <a:spLocks/>
          </p:cNvSpPr>
          <p:nvPr/>
        </p:nvSpPr>
        <p:spPr>
          <a:xfrm>
            <a:off x="8653863" y="4328376"/>
            <a:ext cx="2402150" cy="1548896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 err="1">
                <a:solidFill>
                  <a:schemeClr val="accent4"/>
                </a:solidFill>
                <a:latin typeface="Helvetica" pitchFamily="2" charset="0"/>
              </a:rPr>
              <a:t>Is_Night</a:t>
            </a:r>
            <a:endParaRPr lang="en-US" sz="1200" b="1" dirty="0">
              <a:solidFill>
                <a:schemeClr val="accent4"/>
              </a:solidFill>
              <a:latin typeface="Helvetica" pitchFamily="2" charset="0"/>
            </a:endParaRPr>
          </a:p>
          <a:p>
            <a:pPr marL="114300" indent="-1143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  <a:latin typeface="Helvetica" pitchFamily="2" charset="0"/>
              </a:rPr>
              <a:t>Binary: 1 if transaction is between midnight (Hour 0) and 5 a.m. (Hour 5)</a:t>
            </a:r>
          </a:p>
          <a:p>
            <a:pPr marL="114300" indent="-1143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  <a:latin typeface="Helvetica" pitchFamily="2" charset="0"/>
              </a:rPr>
              <a:t>Explores fraud signal of unusual timing</a:t>
            </a:r>
          </a:p>
          <a:p>
            <a:pPr marL="114300" indent="-1143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900" dirty="0">
              <a:solidFill>
                <a:schemeClr val="accent3"/>
              </a:solidFill>
              <a:latin typeface="Helvetica" pitchFamily="2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900" b="1" dirty="0">
                <a:solidFill>
                  <a:schemeClr val="accent3"/>
                </a:solidFill>
                <a:latin typeface="Helvetica" pitchFamily="2" charset="0"/>
              </a:rPr>
              <a:t>Observation: </a:t>
            </a:r>
            <a:r>
              <a:rPr lang="en-US" sz="900" dirty="0">
                <a:solidFill>
                  <a:schemeClr val="accent3"/>
                </a:solidFill>
                <a:latin typeface="Helvetica" pitchFamily="2" charset="0"/>
              </a:rPr>
              <a:t>Significantly higher fraud rate for night transactions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A725461-EBB1-9F5C-8846-47D93BCAB464}"/>
              </a:ext>
            </a:extLst>
          </p:cNvPr>
          <p:cNvSpPr txBox="1">
            <a:spLocks/>
          </p:cNvSpPr>
          <p:nvPr/>
        </p:nvSpPr>
        <p:spPr>
          <a:xfrm>
            <a:off x="3090499" y="1542227"/>
            <a:ext cx="3840480" cy="3657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accent3"/>
            </a:solidFill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i="1" dirty="0">
                <a:solidFill>
                  <a:schemeClr val="accent4"/>
                </a:solidFill>
                <a:latin typeface="Helvetica" pitchFamily="2" charset="0"/>
              </a:rPr>
              <a:t>Outliers: </a:t>
            </a: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Retained but will be transformed and scaled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EADF31C9-FEE0-94B0-6501-648DA95646BA}"/>
              </a:ext>
            </a:extLst>
          </p:cNvPr>
          <p:cNvSpPr txBox="1">
            <a:spLocks/>
          </p:cNvSpPr>
          <p:nvPr/>
        </p:nvSpPr>
        <p:spPr>
          <a:xfrm>
            <a:off x="586402" y="1534113"/>
            <a:ext cx="2377440" cy="3657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accent3"/>
            </a:solidFill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i="1" dirty="0">
                <a:solidFill>
                  <a:schemeClr val="accent4"/>
                </a:solidFill>
                <a:latin typeface="Helvetica" pitchFamily="2" charset="0"/>
              </a:rPr>
              <a:t>Nulls: </a:t>
            </a: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None (no missing values)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B48B190-264A-9BB8-3FB9-63FB0E7163A1}"/>
              </a:ext>
            </a:extLst>
          </p:cNvPr>
          <p:cNvSpPr txBox="1">
            <a:spLocks/>
          </p:cNvSpPr>
          <p:nvPr/>
        </p:nvSpPr>
        <p:spPr>
          <a:xfrm>
            <a:off x="7053663" y="1542227"/>
            <a:ext cx="3200400" cy="3657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accent3"/>
            </a:solidFill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i="1" dirty="0">
                <a:solidFill>
                  <a:schemeClr val="accent4"/>
                </a:solidFill>
                <a:latin typeface="Helvetica" pitchFamily="2" charset="0"/>
              </a:rPr>
              <a:t>Duplicates: </a:t>
            </a: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Removed from working dataset</a:t>
            </a:r>
            <a:endParaRPr lang="en-US" sz="1200" b="1" i="1" dirty="0">
              <a:solidFill>
                <a:schemeClr val="accent3"/>
              </a:solidFill>
              <a:latin typeface="Helvetica" pitchFamily="2" charset="0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E9935BA-D0B9-165B-86A1-AF1D95AABEDE}"/>
              </a:ext>
            </a:extLst>
          </p:cNvPr>
          <p:cNvSpPr txBox="1">
            <a:spLocks/>
          </p:cNvSpPr>
          <p:nvPr/>
        </p:nvSpPr>
        <p:spPr>
          <a:xfrm>
            <a:off x="576103" y="1196752"/>
            <a:ext cx="1828800" cy="365760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600" b="1" dirty="0">
                <a:solidFill>
                  <a:schemeClr val="accent4"/>
                </a:solidFill>
                <a:latin typeface="Helvetica" pitchFamily="2" charset="0"/>
              </a:rPr>
              <a:t>Data Handling</a:t>
            </a:r>
          </a:p>
        </p:txBody>
      </p:sp>
    </p:spTree>
    <p:extLst>
      <p:ext uri="{BB962C8B-B14F-4D97-AF65-F5344CB8AC3E}">
        <p14:creationId xmlns:p14="http://schemas.microsoft.com/office/powerpoint/2010/main" val="159250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5D83B-631C-4990-297B-00FAF391E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A0454F9-4641-A897-D6EB-CEE17017BAB6}"/>
              </a:ext>
            </a:extLst>
          </p:cNvPr>
          <p:cNvSpPr/>
          <p:nvPr/>
        </p:nvSpPr>
        <p:spPr>
          <a:xfrm>
            <a:off x="8198758" y="1700808"/>
            <a:ext cx="3026933" cy="29523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AECB46-8551-BA74-3686-F9BAE5EF503A}"/>
              </a:ext>
            </a:extLst>
          </p:cNvPr>
          <p:cNvSpPr/>
          <p:nvPr/>
        </p:nvSpPr>
        <p:spPr>
          <a:xfrm>
            <a:off x="288429" y="1700808"/>
            <a:ext cx="2388959" cy="27593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6432020-B6DD-D878-27BC-1A5C8306DDF7}"/>
              </a:ext>
            </a:extLst>
          </p:cNvPr>
          <p:cNvSpPr txBox="1">
            <a:spLocks/>
          </p:cNvSpPr>
          <p:nvPr/>
        </p:nvSpPr>
        <p:spPr>
          <a:xfrm>
            <a:off x="288429" y="1804384"/>
            <a:ext cx="2388959" cy="646976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b="1" dirty="0">
                <a:solidFill>
                  <a:schemeClr val="accent4"/>
                </a:solidFill>
                <a:latin typeface="Helvetica" pitchFamily="2" charset="0"/>
              </a:rPr>
              <a:t>Train-Test Split</a:t>
            </a:r>
          </a:p>
          <a:p>
            <a:pPr marL="119063" indent="-1190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latin typeface="Helvetica" pitchFamily="2" charset="0"/>
              </a:rPr>
              <a:t>80:20 ratio with stratified sampling</a:t>
            </a:r>
          </a:p>
          <a:p>
            <a:pPr marL="119063" indent="-1190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latin typeface="Helvetica" pitchFamily="2" charset="0"/>
              </a:rPr>
              <a:t>Preserved class distribution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 b="1" dirty="0">
              <a:solidFill>
                <a:schemeClr val="accent4"/>
              </a:solidFill>
              <a:latin typeface="Helvetica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8A797D-587F-14AB-8924-0AD3816E2F49}"/>
              </a:ext>
            </a:extLst>
          </p:cNvPr>
          <p:cNvSpPr txBox="1">
            <a:spLocks/>
          </p:cNvSpPr>
          <p:nvPr/>
        </p:nvSpPr>
        <p:spPr>
          <a:xfrm>
            <a:off x="576103" y="533480"/>
            <a:ext cx="10389071" cy="298548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Helvetica" pitchFamily="2" charset="0"/>
                <a:ea typeface="+mj-ea"/>
                <a:cs typeface="+mj-cs"/>
              </a:defRPr>
            </a:lvl1pPr>
          </a:lstStyle>
          <a:p>
            <a:pPr algn="l"/>
            <a:r>
              <a:rPr lang="en-PH" sz="1764" b="1" dirty="0">
                <a:solidFill>
                  <a:schemeClr val="accent4"/>
                </a:solidFill>
              </a:rPr>
              <a:t>DATA PREPROCESSING</a:t>
            </a:r>
            <a:endParaRPr lang="en-US" sz="1764" b="1" dirty="0">
              <a:solidFill>
                <a:schemeClr val="accent4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629571-2A23-3991-176B-59BABB2CED47}"/>
              </a:ext>
            </a:extLst>
          </p:cNvPr>
          <p:cNvSpPr/>
          <p:nvPr/>
        </p:nvSpPr>
        <p:spPr>
          <a:xfrm>
            <a:off x="288429" y="1089606"/>
            <a:ext cx="10920706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8BA15E2-D1E0-F754-8DB8-2CD437E1CB8D}"/>
              </a:ext>
            </a:extLst>
          </p:cNvPr>
          <p:cNvSpPr txBox="1">
            <a:spLocks/>
          </p:cNvSpPr>
          <p:nvPr/>
        </p:nvSpPr>
        <p:spPr>
          <a:xfrm>
            <a:off x="1557991" y="1190972"/>
            <a:ext cx="8425294" cy="288032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600" b="1" dirty="0">
                <a:solidFill>
                  <a:schemeClr val="accent4"/>
                </a:solidFill>
                <a:latin typeface="Helvetica" pitchFamily="2" charset="0"/>
              </a:rPr>
              <a:t>Pipeline: </a:t>
            </a:r>
            <a:r>
              <a:rPr lang="en-US" sz="1600" dirty="0">
                <a:latin typeface="Helvetica" pitchFamily="2" charset="0"/>
              </a:rPr>
              <a:t>Engineered Dataset → Split → Scale → Select → Transform</a:t>
            </a:r>
            <a:endParaRPr lang="en-US" sz="1600" b="1" dirty="0">
              <a:latin typeface="Helvetica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4F4F9B-D829-FFE0-A953-38F6B910BC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880" y="2451360"/>
            <a:ext cx="1389380" cy="18288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AE75008-2A5D-54C0-9DBF-67D62A742B33}"/>
              </a:ext>
            </a:extLst>
          </p:cNvPr>
          <p:cNvSpPr/>
          <p:nvPr/>
        </p:nvSpPr>
        <p:spPr>
          <a:xfrm>
            <a:off x="288429" y="4797152"/>
            <a:ext cx="2388959" cy="914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D46D348-0DC3-C76F-4DD2-B955DF59CBD7}"/>
              </a:ext>
            </a:extLst>
          </p:cNvPr>
          <p:cNvSpPr txBox="1">
            <a:spLocks/>
          </p:cNvSpPr>
          <p:nvPr/>
        </p:nvSpPr>
        <p:spPr>
          <a:xfrm>
            <a:off x="288429" y="4874092"/>
            <a:ext cx="2388959" cy="760520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b="1" dirty="0">
                <a:solidFill>
                  <a:schemeClr val="accent4"/>
                </a:solidFill>
                <a:latin typeface="Helvetica" pitchFamily="2" charset="0"/>
              </a:rPr>
              <a:t>Feature Scaling</a:t>
            </a:r>
          </a:p>
          <a:p>
            <a:pPr marL="119063" indent="-1190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latin typeface="Helvetica" pitchFamily="2" charset="0"/>
              </a:rPr>
              <a:t>Standard scaling of predictors</a:t>
            </a:r>
          </a:p>
          <a:p>
            <a:pPr marL="119063" indent="-1190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latin typeface="Helvetica" pitchFamily="2" charset="0"/>
              </a:rPr>
              <a:t>Fit on training set only to prevent leakage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A5739B-AE86-C6A5-6935-F91057C4D60B}"/>
              </a:ext>
            </a:extLst>
          </p:cNvPr>
          <p:cNvSpPr/>
          <p:nvPr/>
        </p:nvSpPr>
        <p:spPr>
          <a:xfrm>
            <a:off x="3207715" y="1700808"/>
            <a:ext cx="4572000" cy="4572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45DDEEF-5BB7-2210-1FB3-60BB11D3A1BB}"/>
              </a:ext>
            </a:extLst>
          </p:cNvPr>
          <p:cNvSpPr txBox="1">
            <a:spLocks/>
          </p:cNvSpPr>
          <p:nvPr/>
        </p:nvSpPr>
        <p:spPr>
          <a:xfrm>
            <a:off x="3207715" y="1804384"/>
            <a:ext cx="4281514" cy="646976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b="1" dirty="0">
                <a:solidFill>
                  <a:schemeClr val="accent4"/>
                </a:solidFill>
                <a:latin typeface="Helvetica" pitchFamily="2" charset="0"/>
              </a:rPr>
              <a:t>Feature Selection</a:t>
            </a:r>
          </a:p>
          <a:p>
            <a:pPr marL="115888" indent="-11588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latin typeface="Helvetica" pitchFamily="2" charset="0"/>
              </a:rPr>
              <a:t>Reduced number of predictors from 36 to 20</a:t>
            </a:r>
          </a:p>
          <a:p>
            <a:pPr marL="115888" indent="-11588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latin typeface="Helvetica" pitchFamily="2" charset="0"/>
              </a:rPr>
              <a:t>Captured both independent and interaction-driven fraud signals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 b="1" dirty="0">
              <a:solidFill>
                <a:schemeClr val="accent4"/>
              </a:solidFill>
              <a:latin typeface="Helvetica" pitchFamily="2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EFCCEA4-C3CA-82AB-DBB6-8E53E5B042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315" y="2702812"/>
            <a:ext cx="2852420" cy="1828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BCFA515-0CE7-603D-1A5D-1874A92F96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3" b="5350"/>
          <a:stretch>
            <a:fillRect/>
          </a:stretch>
        </p:blipFill>
        <p:spPr>
          <a:xfrm>
            <a:off x="3516739" y="2964904"/>
            <a:ext cx="1806282" cy="32004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1AA2EB9-2490-5F92-AC8F-F4787140F56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19"/>
          <a:stretch>
            <a:fillRect/>
          </a:stretch>
        </p:blipFill>
        <p:spPr bwMode="auto">
          <a:xfrm>
            <a:off x="6032551" y="2964904"/>
            <a:ext cx="1242283" cy="32004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3A09600A-0516-5641-CE5F-B9C5DCEFCF70}"/>
              </a:ext>
            </a:extLst>
          </p:cNvPr>
          <p:cNvSpPr txBox="1">
            <a:spLocks/>
          </p:cNvSpPr>
          <p:nvPr/>
        </p:nvSpPr>
        <p:spPr>
          <a:xfrm>
            <a:off x="3297944" y="2460848"/>
            <a:ext cx="2243872" cy="472488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000" b="1" dirty="0">
                <a:solidFill>
                  <a:schemeClr val="accent4"/>
                </a:solidFill>
                <a:latin typeface="Helvetica" pitchFamily="2" charset="0"/>
              </a:rPr>
              <a:t>1. Mutual Information</a:t>
            </a:r>
          </a:p>
          <a:p>
            <a:pPr marL="115888" indent="-11588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800" dirty="0">
                <a:latin typeface="Helvetica" pitchFamily="2" charset="0"/>
              </a:rPr>
              <a:t>Filter-based feature selection</a:t>
            </a:r>
          </a:p>
          <a:p>
            <a:pPr marL="115888" indent="-11588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800" dirty="0">
                <a:latin typeface="Helvetica" pitchFamily="2" charset="0"/>
              </a:rPr>
              <a:t>Captures linear &amp; non-linear dependencies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 b="1" dirty="0">
              <a:solidFill>
                <a:schemeClr val="accent4"/>
              </a:solidFill>
              <a:latin typeface="Helvetica" pitchFamily="2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2030805A-553B-2FB7-1746-66E8339DF380}"/>
              </a:ext>
            </a:extLst>
          </p:cNvPr>
          <p:cNvSpPr txBox="1">
            <a:spLocks/>
          </p:cNvSpPr>
          <p:nvPr/>
        </p:nvSpPr>
        <p:spPr>
          <a:xfrm>
            <a:off x="5533389" y="2460848"/>
            <a:ext cx="2243872" cy="472488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000" b="1" dirty="0">
                <a:solidFill>
                  <a:schemeClr val="accent4"/>
                </a:solidFill>
                <a:latin typeface="Helvetica" pitchFamily="2" charset="0"/>
              </a:rPr>
              <a:t>2. Random Forest</a:t>
            </a:r>
          </a:p>
          <a:p>
            <a:pPr marL="115888" indent="-11588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800" dirty="0">
                <a:latin typeface="Helvetica" pitchFamily="2" charset="0"/>
              </a:rPr>
              <a:t>Model-based feature importance</a:t>
            </a:r>
          </a:p>
          <a:p>
            <a:pPr marL="115888" indent="-11588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800" dirty="0">
                <a:latin typeface="Helvetica" pitchFamily="2" charset="0"/>
              </a:rPr>
              <a:t>Captures interactions between variables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 b="1" dirty="0">
              <a:solidFill>
                <a:schemeClr val="accent4"/>
              </a:solidFill>
              <a:latin typeface="Helvetica" pitchFamily="2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FA709CD-1584-BF75-26B9-1E36F199B67A}"/>
              </a:ext>
            </a:extLst>
          </p:cNvPr>
          <p:cNvSpPr txBox="1">
            <a:spLocks/>
          </p:cNvSpPr>
          <p:nvPr/>
        </p:nvSpPr>
        <p:spPr>
          <a:xfrm>
            <a:off x="8198759" y="1856030"/>
            <a:ext cx="3034888" cy="780881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b="1" dirty="0">
                <a:solidFill>
                  <a:schemeClr val="accent4"/>
                </a:solidFill>
                <a:latin typeface="Helvetica" pitchFamily="2" charset="0"/>
              </a:rPr>
              <a:t>Dimensionality Reduction</a:t>
            </a:r>
          </a:p>
          <a:p>
            <a:pPr marL="115888" indent="-11588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latin typeface="Helvetica" pitchFamily="2" charset="0"/>
              </a:rPr>
              <a:t>Performed Principal Component Analysis (PCA)</a:t>
            </a:r>
          </a:p>
          <a:p>
            <a:pPr marL="115888" indent="-11588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latin typeface="Helvetica" pitchFamily="2" charset="0"/>
              </a:rPr>
              <a:t>Retained at least 95% of explained variance</a:t>
            </a:r>
          </a:p>
          <a:p>
            <a:pPr marL="115888" indent="-11588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latin typeface="Helvetica" pitchFamily="2" charset="0"/>
              </a:rPr>
              <a:t>Result: 17 principal components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 b="1" dirty="0">
              <a:solidFill>
                <a:schemeClr val="accent4"/>
              </a:solidFill>
              <a:latin typeface="Helvetica" pitchFamily="2" charset="0"/>
            </a:endParaRPr>
          </a:p>
        </p:txBody>
      </p:sp>
      <p:sp>
        <p:nvSpPr>
          <p:cNvPr id="24" name="Down Arrow 23">
            <a:extLst>
              <a:ext uri="{FF2B5EF4-FFF2-40B4-BE49-F238E27FC236}">
                <a16:creationId xmlns:a16="http://schemas.microsoft.com/office/drawing/2014/main" id="{78008A24-A921-C060-A31A-67E3006190B1}"/>
              </a:ext>
            </a:extLst>
          </p:cNvPr>
          <p:cNvSpPr/>
          <p:nvPr/>
        </p:nvSpPr>
        <p:spPr>
          <a:xfrm>
            <a:off x="1355558" y="4491494"/>
            <a:ext cx="216024" cy="274320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2062B382-F6A5-396E-336B-C3787D18A633}"/>
              </a:ext>
            </a:extLst>
          </p:cNvPr>
          <p:cNvSpPr/>
          <p:nvPr/>
        </p:nvSpPr>
        <p:spPr>
          <a:xfrm rot="16200000">
            <a:off x="2834539" y="5117192"/>
            <a:ext cx="216024" cy="274320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own Arrow 25">
            <a:extLst>
              <a:ext uri="{FF2B5EF4-FFF2-40B4-BE49-F238E27FC236}">
                <a16:creationId xmlns:a16="http://schemas.microsoft.com/office/drawing/2014/main" id="{585880B3-F7D5-B11F-4F56-BAF2F5F09636}"/>
              </a:ext>
            </a:extLst>
          </p:cNvPr>
          <p:cNvSpPr/>
          <p:nvPr/>
        </p:nvSpPr>
        <p:spPr>
          <a:xfrm rot="16200000">
            <a:off x="7881224" y="1990712"/>
            <a:ext cx="216024" cy="274320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DD44737-4481-B0A9-9FB2-77419710339C}"/>
              </a:ext>
            </a:extLst>
          </p:cNvPr>
          <p:cNvSpPr/>
          <p:nvPr/>
        </p:nvSpPr>
        <p:spPr>
          <a:xfrm>
            <a:off x="8198759" y="5034694"/>
            <a:ext cx="3010376" cy="914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2B50AF32-5C5C-11D6-DB1F-8B351238A8B2}"/>
              </a:ext>
            </a:extLst>
          </p:cNvPr>
          <p:cNvSpPr txBox="1">
            <a:spLocks/>
          </p:cNvSpPr>
          <p:nvPr/>
        </p:nvSpPr>
        <p:spPr>
          <a:xfrm>
            <a:off x="8198758" y="5111634"/>
            <a:ext cx="3010377" cy="760520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Helvetica" pitchFamily="2" charset="0"/>
              </a:rPr>
              <a:t>Datasets for Modeling</a:t>
            </a:r>
          </a:p>
          <a:p>
            <a:pPr marL="119063" indent="-1190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  <a:latin typeface="Helvetica" pitchFamily="2" charset="0"/>
              </a:rPr>
              <a:t>Original feature set (36 features</a:t>
            </a:r>
          </a:p>
          <a:p>
            <a:pPr marL="119063" indent="-1190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  <a:latin typeface="Helvetica" pitchFamily="2" charset="0"/>
              </a:rPr>
              <a:t>Selected feature set (top 20 features)</a:t>
            </a:r>
          </a:p>
          <a:p>
            <a:pPr marL="119063" indent="-11906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  <a:latin typeface="Helvetica" pitchFamily="2" charset="0"/>
              </a:rPr>
              <a:t>PCA-transformed set (17 principal components)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B6C1F8C4-C27C-C777-F648-45095F6E588F}"/>
              </a:ext>
            </a:extLst>
          </p:cNvPr>
          <p:cNvCxnSpPr>
            <a:stCxn id="22" idx="2"/>
            <a:endCxn id="27" idx="0"/>
          </p:cNvCxnSpPr>
          <p:nvPr/>
        </p:nvCxnSpPr>
        <p:spPr>
          <a:xfrm rot="5400000">
            <a:off x="9521446" y="4843915"/>
            <a:ext cx="381558" cy="0"/>
          </a:xfrm>
          <a:prstGeom prst="bentConnector3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6C339D51-B494-35B7-EE56-A1CF3764C1D8}"/>
              </a:ext>
            </a:extLst>
          </p:cNvPr>
          <p:cNvCxnSpPr>
            <a:cxnSpLocks/>
            <a:stCxn id="14" idx="2"/>
            <a:endCxn id="27" idx="2"/>
          </p:cNvCxnSpPr>
          <p:nvPr/>
        </p:nvCxnSpPr>
        <p:spPr>
          <a:xfrm rot="5400000" flipH="1" flipV="1">
            <a:off x="7436974" y="4005835"/>
            <a:ext cx="323714" cy="4210232"/>
          </a:xfrm>
          <a:prstGeom prst="bentConnector3">
            <a:avLst>
              <a:gd name="adj1" fmla="val -70618"/>
            </a:avLst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020DB3BD-8F3D-9C79-9130-B50BBF5BECE9}"/>
              </a:ext>
            </a:extLst>
          </p:cNvPr>
          <p:cNvCxnSpPr>
            <a:cxnSpLocks/>
            <a:stCxn id="12" idx="2"/>
            <a:endCxn id="27" idx="2"/>
          </p:cNvCxnSpPr>
          <p:nvPr/>
        </p:nvCxnSpPr>
        <p:spPr>
          <a:xfrm rot="16200000" flipH="1">
            <a:off x="5474657" y="1719804"/>
            <a:ext cx="237542" cy="8221038"/>
          </a:xfrm>
          <a:prstGeom prst="bentConnector3">
            <a:avLst>
              <a:gd name="adj1" fmla="val 332098"/>
            </a:avLst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1376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3DD0C-4A34-AC91-378F-46FD66502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85D16-4CF4-586C-574E-43050381F127}"/>
              </a:ext>
            </a:extLst>
          </p:cNvPr>
          <p:cNvSpPr txBox="1">
            <a:spLocks/>
          </p:cNvSpPr>
          <p:nvPr/>
        </p:nvSpPr>
        <p:spPr>
          <a:xfrm>
            <a:off x="576103" y="533480"/>
            <a:ext cx="10389071" cy="298548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Helvetica" pitchFamily="2" charset="0"/>
                <a:ea typeface="+mj-ea"/>
                <a:cs typeface="+mj-cs"/>
              </a:defRPr>
            </a:lvl1pPr>
          </a:lstStyle>
          <a:p>
            <a:pPr algn="l"/>
            <a:r>
              <a:rPr lang="en-PH" sz="1764" b="1" dirty="0">
                <a:solidFill>
                  <a:schemeClr val="accent4"/>
                </a:solidFill>
              </a:rPr>
              <a:t>MODELING STRATEGY AND EXPERIMENTAL DESIGN</a:t>
            </a:r>
            <a:endParaRPr lang="en-US" sz="1764" b="1" dirty="0">
              <a:solidFill>
                <a:schemeClr val="accent4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E34063E-2C37-3502-9343-B69ED17BC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259167"/>
              </p:ext>
            </p:extLst>
          </p:nvPr>
        </p:nvGraphicFramePr>
        <p:xfrm>
          <a:off x="6099653" y="1136540"/>
          <a:ext cx="5029200" cy="22924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46374362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165484561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269778371"/>
                    </a:ext>
                  </a:extLst>
                </a:gridCol>
              </a:tblGrid>
              <a:tr h="353342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Helvetica" pitchFamily="2" charset="0"/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Helvetica" pitchFamily="2" charset="0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Helvetica" pitchFamily="2" charset="0"/>
                        </a:rPr>
                        <a:t>Rationale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640324"/>
                  </a:ext>
                </a:extLst>
              </a:tr>
              <a:tr h="375199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accent4"/>
                          </a:solidFill>
                          <a:latin typeface="Helvetica" pitchFamily="2" charset="0"/>
                        </a:rPr>
                        <a:t>Logistic Regression (LR)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Helvetica" pitchFamily="2" charset="0"/>
                        </a:rPr>
                        <a:t>Linear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Helvetica" pitchFamily="2" charset="0"/>
                        </a:rPr>
                        <a:t>Baseline model for comparison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107261"/>
                  </a:ext>
                </a:extLst>
              </a:tr>
              <a:tr h="375199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accent4"/>
                          </a:solidFill>
                          <a:latin typeface="Helvetica" pitchFamily="2" charset="0"/>
                        </a:rPr>
                        <a:t>Decision Tree (DT)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Helvetica" pitchFamily="2" charset="0"/>
                        </a:rPr>
                        <a:t>Tree-Based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Helvetica" pitchFamily="2" charset="0"/>
                        </a:rPr>
                        <a:t>Benchmark for non-linear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274698"/>
                  </a:ext>
                </a:extLst>
              </a:tr>
              <a:tr h="375199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accent4"/>
                          </a:solidFill>
                          <a:latin typeface="Helvetica" pitchFamily="2" charset="0"/>
                        </a:rPr>
                        <a:t>Random Forest (RF)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Helvetica" pitchFamily="2" charset="0"/>
                        </a:rPr>
                        <a:t>Ensemble (Bagging)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Helvetica" pitchFamily="2" charset="0"/>
                        </a:rPr>
                        <a:t>Baseline ensemble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0644022"/>
                  </a:ext>
                </a:extLst>
              </a:tr>
              <a:tr h="375199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accent4"/>
                          </a:solidFill>
                          <a:latin typeface="Helvetica" pitchFamily="2" charset="0"/>
                        </a:rPr>
                        <a:t>Gradient Boosting (GB)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Helvetica" pitchFamily="2" charset="0"/>
                        </a:rPr>
                        <a:t>Ensemble (Boosting)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Helvetica" pitchFamily="2" charset="0"/>
                        </a:rPr>
                        <a:t>Test for boosting behavior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1479317"/>
                  </a:ext>
                </a:extLst>
              </a:tr>
              <a:tr h="375199">
                <a:tc>
                  <a:txBody>
                    <a:bodyPr/>
                    <a:lstStyle/>
                    <a:p>
                      <a:r>
                        <a:rPr lang="en-US" sz="1000" dirty="0" err="1">
                          <a:solidFill>
                            <a:schemeClr val="accent4"/>
                          </a:solidFill>
                          <a:latin typeface="Helvetica" pitchFamily="2" charset="0"/>
                        </a:rPr>
                        <a:t>XGBoost</a:t>
                      </a:r>
                      <a:r>
                        <a:rPr lang="en-US" sz="1000" dirty="0">
                          <a:solidFill>
                            <a:schemeClr val="accent4"/>
                          </a:solidFill>
                          <a:latin typeface="Helvetica" pitchFamily="2" charset="0"/>
                        </a:rPr>
                        <a:t> (XGB)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Helvetica" pitchFamily="2" charset="0"/>
                        </a:rPr>
                        <a:t>Advanced Boosting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Helvetica" pitchFamily="2" charset="0"/>
                        </a:rPr>
                        <a:t>High potential for optimization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213158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6B77B29-56FF-E804-A0E7-B40AE8FEA2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957232"/>
              </p:ext>
            </p:extLst>
          </p:nvPr>
        </p:nvGraphicFramePr>
        <p:xfrm>
          <a:off x="6099653" y="3829472"/>
          <a:ext cx="5029200" cy="21346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46374362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65484561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269778371"/>
                    </a:ext>
                  </a:extLst>
                </a:gridCol>
              </a:tblGrid>
              <a:tr h="302813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Helvetica" pitchFamily="2" charset="0"/>
                        </a:rPr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Helvetica" pitchFamily="2" charset="0"/>
                        </a:rPr>
                        <a:t>Strengths in Fraud Context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Helvetica" pitchFamily="2" charset="0"/>
                        </a:rPr>
                        <a:t>Rationale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640324"/>
                  </a:ext>
                </a:extLst>
              </a:tr>
              <a:tr h="321544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accent3"/>
                          </a:solidFill>
                          <a:latin typeface="Helvetica" pitchFamily="2" charset="0"/>
                        </a:rPr>
                        <a:t>Recall (Fraud)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Helvetica" pitchFamily="2" charset="0"/>
                        </a:rPr>
                        <a:t>Minimizes missed fraud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Helvetica" pitchFamily="2" charset="0"/>
                        </a:rPr>
                        <a:t>Critical for risk mitigation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107261"/>
                  </a:ext>
                </a:extLst>
              </a:tr>
              <a:tr h="321544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accent3"/>
                          </a:solidFill>
                          <a:latin typeface="Helvetica" pitchFamily="2" charset="0"/>
                        </a:rPr>
                        <a:t>Precision (Fraud)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Helvetica" pitchFamily="2" charset="0"/>
                        </a:rPr>
                        <a:t>Reduces false alarms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Helvetica" pitchFamily="2" charset="0"/>
                        </a:rPr>
                        <a:t>Evaluation of operational efficiency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274698"/>
                  </a:ext>
                </a:extLst>
              </a:tr>
              <a:tr h="321544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accent3"/>
                          </a:solidFill>
                          <a:latin typeface="Helvetica" pitchFamily="2" charset="0"/>
                        </a:rPr>
                        <a:t>F1-Score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Helvetica" pitchFamily="2" charset="0"/>
                        </a:rPr>
                        <a:t>Captures recall-precision trade-off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Helvetica" pitchFamily="2" charset="0"/>
                        </a:rPr>
                        <a:t>Primary optimization 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0644022"/>
                  </a:ext>
                </a:extLst>
              </a:tr>
              <a:tr h="321544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accent3"/>
                          </a:solidFill>
                          <a:latin typeface="Helvetica" pitchFamily="2" charset="0"/>
                        </a:rPr>
                        <a:t>PR-AUC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Helvetica" pitchFamily="2" charset="0"/>
                        </a:rPr>
                        <a:t>Robust to imbalance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Helvetica" pitchFamily="2" charset="0"/>
                        </a:rPr>
                        <a:t>Model ranking 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1479317"/>
                  </a:ext>
                </a:extLst>
              </a:tr>
              <a:tr h="321544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accent3"/>
                          </a:solidFill>
                          <a:latin typeface="Helvetica" pitchFamily="2" charset="0"/>
                        </a:rPr>
                        <a:t>ROC-AUC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Helvetica" pitchFamily="2" charset="0"/>
                        </a:rPr>
                        <a:t>Benchmark for overall separability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Helvetica" pitchFamily="2" charset="0"/>
                        </a:rPr>
                        <a:t>Secondary reference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2131588"/>
                  </a:ext>
                </a:extLst>
              </a:tr>
            </a:tbl>
          </a:graphicData>
        </a:graphic>
      </p:graphicFrame>
      <p:sp>
        <p:nvSpPr>
          <p:cNvPr id="10" name="Title 1">
            <a:extLst>
              <a:ext uri="{FF2B5EF4-FFF2-40B4-BE49-F238E27FC236}">
                <a16:creationId xmlns:a16="http://schemas.microsoft.com/office/drawing/2014/main" id="{584184C3-7D93-7E46-4A8C-76C83216041A}"/>
              </a:ext>
            </a:extLst>
          </p:cNvPr>
          <p:cNvSpPr txBox="1">
            <a:spLocks/>
          </p:cNvSpPr>
          <p:nvPr/>
        </p:nvSpPr>
        <p:spPr>
          <a:xfrm>
            <a:off x="392512" y="1201532"/>
            <a:ext cx="4572000" cy="457200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4"/>
            </a:solidFill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600" b="1" dirty="0">
                <a:solidFill>
                  <a:schemeClr val="accent4"/>
                </a:solidFill>
                <a:latin typeface="Helvetica" pitchFamily="2" charset="0"/>
              </a:rPr>
              <a:t>Model Implementation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83DB1F5-224A-42A3-13F4-FCB34A31557F}"/>
              </a:ext>
            </a:extLst>
          </p:cNvPr>
          <p:cNvSpPr txBox="1">
            <a:spLocks/>
          </p:cNvSpPr>
          <p:nvPr/>
        </p:nvSpPr>
        <p:spPr>
          <a:xfrm>
            <a:off x="393222" y="2028237"/>
            <a:ext cx="4572000" cy="457200"/>
          </a:xfrm>
          <a:prstGeom prst="roundRect">
            <a:avLst>
              <a:gd name="adj" fmla="val 0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/>
            </a:solidFill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600" b="1" dirty="0">
                <a:solidFill>
                  <a:schemeClr val="accent3"/>
                </a:solidFill>
                <a:latin typeface="Helvetica" pitchFamily="2" charset="0"/>
              </a:rPr>
              <a:t>Model Evaluation &amp; Comparison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AD6A166-05D2-56CD-0B48-E17A54D67246}"/>
              </a:ext>
            </a:extLst>
          </p:cNvPr>
          <p:cNvSpPr txBox="1">
            <a:spLocks/>
          </p:cNvSpPr>
          <p:nvPr/>
        </p:nvSpPr>
        <p:spPr>
          <a:xfrm>
            <a:off x="389597" y="2708920"/>
            <a:ext cx="4572000" cy="685800"/>
          </a:xfrm>
          <a:prstGeom prst="roundRect">
            <a:avLst>
              <a:gd name="adj" fmla="val 0"/>
            </a:avLst>
          </a:prstGeom>
          <a:solidFill>
            <a:schemeClr val="tx2">
              <a:lumMod val="10000"/>
              <a:lumOff val="90000"/>
            </a:schemeClr>
          </a:solidFill>
          <a:ln w="3175">
            <a:noFill/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600" b="1" dirty="0">
                <a:solidFill>
                  <a:schemeClr val="tx2"/>
                </a:solidFill>
                <a:latin typeface="Helvetica" pitchFamily="2" charset="0"/>
              </a:rPr>
              <a:t>Hyperparameter Tuning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200" i="1" dirty="0" err="1">
                <a:solidFill>
                  <a:schemeClr val="tx2"/>
                </a:solidFill>
                <a:latin typeface="Helvetica" pitchFamily="2" charset="0"/>
              </a:rPr>
              <a:t>RandomizedSearchCV</a:t>
            </a:r>
            <a:r>
              <a:rPr lang="en-US" sz="1200" i="1" dirty="0">
                <a:solidFill>
                  <a:schemeClr val="tx2"/>
                </a:solidFill>
                <a:latin typeface="Helvetica" pitchFamily="2" charset="0"/>
              </a:rPr>
              <a:t> on top models, optimize F1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E77A1EE-BE7C-04C0-827B-F2F547BE7547}"/>
              </a:ext>
            </a:extLst>
          </p:cNvPr>
          <p:cNvSpPr txBox="1">
            <a:spLocks/>
          </p:cNvSpPr>
          <p:nvPr/>
        </p:nvSpPr>
        <p:spPr>
          <a:xfrm>
            <a:off x="389597" y="3607296"/>
            <a:ext cx="4572000" cy="685800"/>
          </a:xfrm>
          <a:prstGeom prst="roundRect">
            <a:avLst>
              <a:gd name="adj" fmla="val 0"/>
            </a:avLst>
          </a:prstGeom>
          <a:solidFill>
            <a:schemeClr val="tx2">
              <a:lumMod val="10000"/>
              <a:lumOff val="90000"/>
            </a:schemeClr>
          </a:solidFill>
          <a:ln w="3175">
            <a:noFill/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600" b="1" dirty="0">
                <a:solidFill>
                  <a:schemeClr val="tx2"/>
                </a:solidFill>
                <a:latin typeface="Helvetica" pitchFamily="2" charset="0"/>
              </a:rPr>
              <a:t>Model Selection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200" i="1" dirty="0">
                <a:solidFill>
                  <a:schemeClr val="tx2"/>
                </a:solidFill>
                <a:latin typeface="Helvetica" pitchFamily="2" charset="0"/>
              </a:rPr>
              <a:t>Best F1 + PR-AUC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75FE6D3-8366-6A54-AAA5-4F3E8E8DE5BC}"/>
              </a:ext>
            </a:extLst>
          </p:cNvPr>
          <p:cNvSpPr txBox="1">
            <a:spLocks/>
          </p:cNvSpPr>
          <p:nvPr/>
        </p:nvSpPr>
        <p:spPr>
          <a:xfrm>
            <a:off x="390226" y="4509120"/>
            <a:ext cx="4572000" cy="685800"/>
          </a:xfrm>
          <a:prstGeom prst="roundRect">
            <a:avLst>
              <a:gd name="adj" fmla="val 0"/>
            </a:avLst>
          </a:prstGeom>
          <a:solidFill>
            <a:schemeClr val="tx2">
              <a:lumMod val="10000"/>
              <a:lumOff val="90000"/>
            </a:schemeClr>
          </a:solidFill>
          <a:ln w="3175">
            <a:noFill/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600" b="1" dirty="0">
                <a:solidFill>
                  <a:schemeClr val="tx2"/>
                </a:solidFill>
                <a:latin typeface="Helvetica" pitchFamily="2" charset="0"/>
              </a:rPr>
              <a:t>Threshold Optimization</a:t>
            </a:r>
            <a:endParaRPr lang="en-US" sz="1200" b="1" i="1" dirty="0">
              <a:solidFill>
                <a:schemeClr val="tx2"/>
              </a:solidFill>
              <a:latin typeface="Helvetica" pitchFamily="2" charset="0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200" i="1" dirty="0">
                <a:solidFill>
                  <a:schemeClr val="tx2"/>
                </a:solidFill>
                <a:latin typeface="Helvetica" pitchFamily="2" charset="0"/>
              </a:rPr>
              <a:t>Threshold tuning (0.1 to 0.9), maximize F1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DA8158E-B792-49C3-036E-3874EAF3FEFA}"/>
              </a:ext>
            </a:extLst>
          </p:cNvPr>
          <p:cNvSpPr txBox="1">
            <a:spLocks/>
          </p:cNvSpPr>
          <p:nvPr/>
        </p:nvSpPr>
        <p:spPr>
          <a:xfrm>
            <a:off x="393222" y="5427869"/>
            <a:ext cx="4572000" cy="536224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 w="3175">
            <a:noFill/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600" b="1" dirty="0">
                <a:solidFill>
                  <a:schemeClr val="bg1"/>
                </a:solidFill>
                <a:latin typeface="Helvetica" pitchFamily="2" charset="0"/>
              </a:rPr>
              <a:t>Final Model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891618F-2DD6-FF34-CEF0-1AF14D8A093F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2678512" y="1658732"/>
            <a:ext cx="710" cy="369505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74827B8-9E86-A3FE-8885-6940B79E3B0B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2675597" y="2485437"/>
            <a:ext cx="3625" cy="223483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EFDC986-3506-A609-53F6-3F7C5CD459D9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2675597" y="3394720"/>
            <a:ext cx="0" cy="212576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1B0B847-9BD9-7F2A-5F75-AE73391A9497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2675597" y="4293096"/>
            <a:ext cx="629" cy="216024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DC6AC2F-EE79-619D-414E-15E5C53BB5A6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2676226" y="5194920"/>
            <a:ext cx="2996" cy="232949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42C977D7-52E9-1A2A-A352-76A768129482}"/>
              </a:ext>
            </a:extLst>
          </p:cNvPr>
          <p:cNvCxnSpPr>
            <a:cxnSpLocks/>
            <a:stCxn id="7" idx="1"/>
            <a:endCxn id="10" idx="3"/>
          </p:cNvCxnSpPr>
          <p:nvPr/>
        </p:nvCxnSpPr>
        <p:spPr>
          <a:xfrm rot="10800000">
            <a:off x="4964513" y="1430132"/>
            <a:ext cx="1135141" cy="85263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168093DB-09B9-A58D-800D-B9F335529F27}"/>
              </a:ext>
            </a:extLst>
          </p:cNvPr>
          <p:cNvCxnSpPr>
            <a:cxnSpLocks/>
            <a:stCxn id="8" idx="1"/>
            <a:endCxn id="11" idx="3"/>
          </p:cNvCxnSpPr>
          <p:nvPr/>
        </p:nvCxnSpPr>
        <p:spPr>
          <a:xfrm rot="10800000">
            <a:off x="4965223" y="2256838"/>
            <a:ext cx="1134431" cy="2639945"/>
          </a:xfrm>
          <a:prstGeom prst="bentConnector3">
            <a:avLst>
              <a:gd name="adj1" fmla="val 70151"/>
            </a:avLst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6880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83B72-C430-619F-41B3-C38ED2EBC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4223677-B856-938B-2237-FAC2735E4DC5}"/>
              </a:ext>
            </a:extLst>
          </p:cNvPr>
          <p:cNvSpPr/>
          <p:nvPr/>
        </p:nvSpPr>
        <p:spPr>
          <a:xfrm>
            <a:off x="6121077" y="4509120"/>
            <a:ext cx="4844096" cy="19077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5D5E99-27F4-9975-0EC0-43DCAFD24201}"/>
              </a:ext>
            </a:extLst>
          </p:cNvPr>
          <p:cNvSpPr/>
          <p:nvPr/>
        </p:nvSpPr>
        <p:spPr>
          <a:xfrm>
            <a:off x="576103" y="1036752"/>
            <a:ext cx="10389070" cy="23922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790FC0-2988-F0FC-7601-CA4A8D9A47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04" y="3588757"/>
            <a:ext cx="5184936" cy="2828147"/>
          </a:xfrm>
          <a:prstGeom prst="rect">
            <a:avLst/>
          </a:prstGeom>
          <a:ln w="12700">
            <a:solidFill>
              <a:schemeClr val="accent3"/>
            </a:solidFill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87966C3-B970-5018-211D-C163A7660B31}"/>
              </a:ext>
            </a:extLst>
          </p:cNvPr>
          <p:cNvSpPr txBox="1">
            <a:spLocks/>
          </p:cNvSpPr>
          <p:nvPr/>
        </p:nvSpPr>
        <p:spPr>
          <a:xfrm>
            <a:off x="576103" y="533480"/>
            <a:ext cx="10389071" cy="298548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Helvetica" pitchFamily="2" charset="0"/>
                <a:ea typeface="+mj-ea"/>
                <a:cs typeface="+mj-cs"/>
              </a:defRPr>
            </a:lvl1pPr>
          </a:lstStyle>
          <a:p>
            <a:pPr algn="l"/>
            <a:r>
              <a:rPr lang="en-PH" sz="1764" b="1" dirty="0">
                <a:solidFill>
                  <a:schemeClr val="accent4"/>
                </a:solidFill>
              </a:rPr>
              <a:t>MODEL IMPLEMENTATION AND EVALUATION</a:t>
            </a:r>
            <a:endParaRPr lang="en-US" sz="1764" b="1" dirty="0">
              <a:solidFill>
                <a:schemeClr val="accent4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EC867B-0FC5-08EB-6A5C-BEFCFB43CD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792" y="1187753"/>
            <a:ext cx="4905555" cy="18288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581E9A4-4914-3539-4DA1-C5C55DAD4B00}"/>
              </a:ext>
            </a:extLst>
          </p:cNvPr>
          <p:cNvSpPr txBox="1">
            <a:spLocks/>
          </p:cNvSpPr>
          <p:nvPr/>
        </p:nvSpPr>
        <p:spPr>
          <a:xfrm>
            <a:off x="2088629" y="3106977"/>
            <a:ext cx="2286000" cy="2286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noFill/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00" b="1" dirty="0">
                <a:solidFill>
                  <a:srgbClr val="5B75A4"/>
                </a:solidFill>
                <a:latin typeface="Helvetica" pitchFamily="2" charset="0"/>
              </a:rPr>
              <a:t>LR</a:t>
            </a:r>
            <a:r>
              <a:rPr lang="en-US" sz="1000" dirty="0">
                <a:solidFill>
                  <a:schemeClr val="tx2"/>
                </a:solidFill>
                <a:latin typeface="Helvetica" pitchFamily="2" charset="0"/>
              </a:rPr>
              <a:t>     </a:t>
            </a:r>
            <a:r>
              <a:rPr lang="en-US" sz="1000" b="1" dirty="0">
                <a:solidFill>
                  <a:srgbClr val="CC8963"/>
                </a:solidFill>
                <a:latin typeface="Helvetica" pitchFamily="2" charset="0"/>
              </a:rPr>
              <a:t>DT</a:t>
            </a:r>
            <a:r>
              <a:rPr lang="en-US" sz="1000" dirty="0">
                <a:solidFill>
                  <a:schemeClr val="tx2"/>
                </a:solidFill>
                <a:latin typeface="Helvetica" pitchFamily="2" charset="0"/>
              </a:rPr>
              <a:t>     </a:t>
            </a:r>
            <a:r>
              <a:rPr lang="en-US" sz="1000" b="1" dirty="0">
                <a:solidFill>
                  <a:srgbClr val="609E6E"/>
                </a:solidFill>
                <a:latin typeface="Helvetica" pitchFamily="2" charset="0"/>
              </a:rPr>
              <a:t>RF</a:t>
            </a:r>
            <a:r>
              <a:rPr lang="en-US" sz="1000" dirty="0">
                <a:solidFill>
                  <a:schemeClr val="tx2"/>
                </a:solidFill>
                <a:latin typeface="Helvetica" pitchFamily="2" charset="0"/>
              </a:rPr>
              <a:t>     </a:t>
            </a:r>
            <a:r>
              <a:rPr lang="en-US" sz="1000" b="1" dirty="0">
                <a:solidFill>
                  <a:srgbClr val="B55D60"/>
                </a:solidFill>
                <a:latin typeface="Helvetica" pitchFamily="2" charset="0"/>
              </a:rPr>
              <a:t>GB</a:t>
            </a:r>
            <a:r>
              <a:rPr lang="en-US" sz="1000" dirty="0">
                <a:solidFill>
                  <a:schemeClr val="tx2"/>
                </a:solidFill>
                <a:latin typeface="Helvetica" pitchFamily="2" charset="0"/>
              </a:rPr>
              <a:t>     </a:t>
            </a:r>
            <a:r>
              <a:rPr lang="en-US" sz="1000" b="1" dirty="0">
                <a:solidFill>
                  <a:srgbClr val="857AAB"/>
                </a:solidFill>
                <a:latin typeface="Helvetica" pitchFamily="2" charset="0"/>
              </a:rPr>
              <a:t>XGB</a:t>
            </a:r>
          </a:p>
        </p:txBody>
      </p:sp>
      <p:sp>
        <p:nvSpPr>
          <p:cNvPr id="15" name="5-Point Star 14">
            <a:extLst>
              <a:ext uri="{FF2B5EF4-FFF2-40B4-BE49-F238E27FC236}">
                <a16:creationId xmlns:a16="http://schemas.microsoft.com/office/drawing/2014/main" id="{1C27F748-E26A-A866-2C01-05CF5AE1DAB8}"/>
              </a:ext>
            </a:extLst>
          </p:cNvPr>
          <p:cNvSpPr/>
          <p:nvPr/>
        </p:nvSpPr>
        <p:spPr>
          <a:xfrm>
            <a:off x="5789087" y="3717032"/>
            <a:ext cx="182880" cy="182880"/>
          </a:xfrm>
          <a:prstGeom prst="star5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5-Point Star 3">
            <a:extLst>
              <a:ext uri="{FF2B5EF4-FFF2-40B4-BE49-F238E27FC236}">
                <a16:creationId xmlns:a16="http://schemas.microsoft.com/office/drawing/2014/main" id="{72989A49-D71A-168E-46E3-14E40324F115}"/>
              </a:ext>
            </a:extLst>
          </p:cNvPr>
          <p:cNvSpPr/>
          <p:nvPr/>
        </p:nvSpPr>
        <p:spPr>
          <a:xfrm>
            <a:off x="5789087" y="3899912"/>
            <a:ext cx="182880" cy="182880"/>
          </a:xfrm>
          <a:prstGeom prst="star5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5-Point Star 10">
            <a:extLst>
              <a:ext uri="{FF2B5EF4-FFF2-40B4-BE49-F238E27FC236}">
                <a16:creationId xmlns:a16="http://schemas.microsoft.com/office/drawing/2014/main" id="{0B2F7D03-A9C9-A148-06B4-75CA4C0D6507}"/>
              </a:ext>
            </a:extLst>
          </p:cNvPr>
          <p:cNvSpPr/>
          <p:nvPr/>
        </p:nvSpPr>
        <p:spPr>
          <a:xfrm>
            <a:off x="5792152" y="4265672"/>
            <a:ext cx="182880" cy="182880"/>
          </a:xfrm>
          <a:prstGeom prst="star5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C823553D-6E14-236D-ECE6-3E8CC55D919E}"/>
              </a:ext>
            </a:extLst>
          </p:cNvPr>
          <p:cNvSpPr txBox="1">
            <a:spLocks/>
          </p:cNvSpPr>
          <p:nvPr/>
        </p:nvSpPr>
        <p:spPr>
          <a:xfrm>
            <a:off x="5736976" y="1187751"/>
            <a:ext cx="5112568" cy="2147825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>
                <a:solidFill>
                  <a:schemeClr val="accent4"/>
                </a:solidFill>
                <a:latin typeface="Helvetica" pitchFamily="2" charset="0"/>
              </a:rPr>
              <a:t>Findings per Model</a:t>
            </a:r>
          </a:p>
          <a:p>
            <a:pPr marL="117475" indent="-1111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b="1" dirty="0">
                <a:solidFill>
                  <a:schemeClr val="accent3"/>
                </a:solidFill>
                <a:latin typeface="Helvetica" pitchFamily="2" charset="0"/>
              </a:rPr>
              <a:t>LR: </a:t>
            </a: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High recall, lowest precision → high operational burden</a:t>
            </a:r>
          </a:p>
          <a:p>
            <a:pPr marL="117475" indent="-1111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b="1" dirty="0">
                <a:solidFill>
                  <a:schemeClr val="accent3"/>
                </a:solidFill>
                <a:latin typeface="Helvetica" pitchFamily="2" charset="0"/>
              </a:rPr>
              <a:t>DT: </a:t>
            </a: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High recall,</a:t>
            </a:r>
            <a:r>
              <a:rPr lang="en-US" sz="1400" b="1" dirty="0">
                <a:solidFill>
                  <a:schemeClr val="accent3"/>
                </a:solidFill>
                <a:latin typeface="Helvetica" pitchFamily="2" charset="0"/>
              </a:rPr>
              <a:t> </a:t>
            </a: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weakest overall performance</a:t>
            </a:r>
          </a:p>
          <a:p>
            <a:pPr marL="117475" indent="-1111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b="1" dirty="0">
                <a:solidFill>
                  <a:schemeClr val="accent3"/>
                </a:solidFill>
                <a:latin typeface="Helvetica" pitchFamily="2" charset="0"/>
              </a:rPr>
              <a:t>RF:</a:t>
            </a: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 Best untuned balance → strong potential for tuning</a:t>
            </a:r>
          </a:p>
          <a:p>
            <a:pPr marL="117475" indent="-1111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b="1" dirty="0">
                <a:solidFill>
                  <a:schemeClr val="accent3"/>
                </a:solidFill>
                <a:latin typeface="Helvetica" pitchFamily="2" charset="0"/>
              </a:rPr>
              <a:t>GB: </a:t>
            </a: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Good PR-AUC, low precision → high operational burden</a:t>
            </a:r>
          </a:p>
          <a:p>
            <a:pPr marL="117475" indent="-1111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400" b="1" dirty="0">
                <a:solidFill>
                  <a:schemeClr val="accent3"/>
                </a:solidFill>
                <a:latin typeface="Helvetica" pitchFamily="2" charset="0"/>
              </a:rPr>
              <a:t>XGB:</a:t>
            </a:r>
            <a:r>
              <a:rPr lang="en-US" sz="1400" dirty="0">
                <a:solidFill>
                  <a:schemeClr val="accent3"/>
                </a:solidFill>
                <a:latin typeface="Helvetica" pitchFamily="2" charset="0"/>
              </a:rPr>
              <a:t> Strong recall, good PR-AUC → high tuning potential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6D941ED0-B08C-CC4D-8A58-EC7FB57C41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913317"/>
              </p:ext>
            </p:extLst>
          </p:nvPr>
        </p:nvGraphicFramePr>
        <p:xfrm>
          <a:off x="6293765" y="4814312"/>
          <a:ext cx="4540886" cy="14789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3493">
                  <a:extLst>
                    <a:ext uri="{9D8B030D-6E8A-4147-A177-3AD203B41FA5}">
                      <a16:colId xmlns:a16="http://schemas.microsoft.com/office/drawing/2014/main" val="246374362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165484561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269778371"/>
                    </a:ext>
                  </a:extLst>
                </a:gridCol>
              </a:tblGrid>
              <a:tr h="35334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4"/>
                          </a:solidFill>
                          <a:latin typeface="Helvetica" pitchFamily="2" charset="0"/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4"/>
                          </a:solidFill>
                          <a:latin typeface="Helvetica" pitchFamily="2" charset="0"/>
                        </a:rPr>
                        <a:t>Feature 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4"/>
                          </a:solidFill>
                          <a:latin typeface="Helvetica" pitchFamily="2" charset="0"/>
                        </a:rPr>
                        <a:t>Rationale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640324"/>
                  </a:ext>
                </a:extLst>
              </a:tr>
              <a:tr h="375199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accent4"/>
                          </a:solidFill>
                          <a:latin typeface="Helvetica" pitchFamily="2" charset="0"/>
                        </a:rPr>
                        <a:t>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Helvetica" pitchFamily="2" charset="0"/>
                        </a:rPr>
                        <a:t>PCA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Helvetica" pitchFamily="2" charset="0"/>
                        </a:rPr>
                        <a:t>Best untuned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07261"/>
                  </a:ext>
                </a:extLst>
              </a:tr>
              <a:tr h="375199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accent4"/>
                          </a:solidFill>
                          <a:latin typeface="Helvetica" pitchFamily="2" charset="0"/>
                        </a:rPr>
                        <a:t>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Helvetica" pitchFamily="2" charset="0"/>
                        </a:rPr>
                        <a:t>Full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Helvetica" pitchFamily="2" charset="0"/>
                        </a:rPr>
                        <a:t>Second best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274698"/>
                  </a:ext>
                </a:extLst>
              </a:tr>
              <a:tr h="375199"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accent4"/>
                          </a:solidFill>
                          <a:latin typeface="Helvetica" pitchFamily="2" charset="0"/>
                        </a:rPr>
                        <a:t>XGBoost</a:t>
                      </a:r>
                      <a:endParaRPr lang="en-US" sz="1100" dirty="0">
                        <a:solidFill>
                          <a:schemeClr val="accent4"/>
                        </a:solidFill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Helvetica" pitchFamily="2" charset="0"/>
                        </a:rPr>
                        <a:t>Full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Helvetica" pitchFamily="2" charset="0"/>
                        </a:rPr>
                        <a:t>Stronger recall vs. RF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644022"/>
                  </a:ext>
                </a:extLst>
              </a:tr>
            </a:tbl>
          </a:graphicData>
        </a:graphic>
      </p:graphicFrame>
      <p:sp>
        <p:nvSpPr>
          <p:cNvPr id="23" name="Title 1">
            <a:extLst>
              <a:ext uri="{FF2B5EF4-FFF2-40B4-BE49-F238E27FC236}">
                <a16:creationId xmlns:a16="http://schemas.microsoft.com/office/drawing/2014/main" id="{02372678-7D2E-062D-2372-1AF04AF1492C}"/>
              </a:ext>
            </a:extLst>
          </p:cNvPr>
          <p:cNvSpPr txBox="1">
            <a:spLocks/>
          </p:cNvSpPr>
          <p:nvPr/>
        </p:nvSpPr>
        <p:spPr>
          <a:xfrm>
            <a:off x="6121077" y="4545124"/>
            <a:ext cx="4844096" cy="233184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marL="635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000" b="1" dirty="0">
                <a:solidFill>
                  <a:schemeClr val="bg1"/>
                </a:solidFill>
                <a:latin typeface="Helvetica" pitchFamily="2" charset="0"/>
              </a:rPr>
              <a:t>Selected Models for Hyperparameter Tuning</a:t>
            </a:r>
            <a:endParaRPr lang="en-US" sz="1000" dirty="0">
              <a:solidFill>
                <a:schemeClr val="bg1"/>
              </a:solidFill>
              <a:latin typeface="Helvetica" pitchFamily="2" charset="0"/>
            </a:endParaRPr>
          </a:p>
        </p:txBody>
      </p: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25FD5344-E225-E9D5-E9AC-1FD199471834}"/>
              </a:ext>
            </a:extLst>
          </p:cNvPr>
          <p:cNvCxnSpPr>
            <a:cxnSpLocks/>
            <a:stCxn id="15" idx="4"/>
            <a:endCxn id="23" idx="0"/>
          </p:cNvCxnSpPr>
          <p:nvPr/>
        </p:nvCxnSpPr>
        <p:spPr>
          <a:xfrm>
            <a:off x="5971967" y="3786886"/>
            <a:ext cx="2571158" cy="758238"/>
          </a:xfrm>
          <a:prstGeom prst="bentConnector2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2F578275-BA97-6061-B1D5-E15751C610D4}"/>
              </a:ext>
            </a:extLst>
          </p:cNvPr>
          <p:cNvCxnSpPr>
            <a:cxnSpLocks/>
            <a:stCxn id="4" idx="4"/>
            <a:endCxn id="23" idx="0"/>
          </p:cNvCxnSpPr>
          <p:nvPr/>
        </p:nvCxnSpPr>
        <p:spPr>
          <a:xfrm>
            <a:off x="5971967" y="3969766"/>
            <a:ext cx="2571158" cy="575358"/>
          </a:xfrm>
          <a:prstGeom prst="bentConnector2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ED0435A4-6BB3-E113-CD9B-08C83C8E0223}"/>
              </a:ext>
            </a:extLst>
          </p:cNvPr>
          <p:cNvCxnSpPr>
            <a:cxnSpLocks/>
            <a:stCxn id="11" idx="4"/>
            <a:endCxn id="23" idx="0"/>
          </p:cNvCxnSpPr>
          <p:nvPr/>
        </p:nvCxnSpPr>
        <p:spPr>
          <a:xfrm>
            <a:off x="5975032" y="4335526"/>
            <a:ext cx="2568093" cy="209598"/>
          </a:xfrm>
          <a:prstGeom prst="bentConnector2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1846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666B8-2FC0-7D28-4184-4225635B7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387833D-DB48-F117-09A8-54F5D8D7BE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688" y="3140968"/>
            <a:ext cx="4919627" cy="3474720"/>
          </a:xfrm>
          <a:prstGeom prst="rect">
            <a:avLst/>
          </a:prstGeom>
          <a:ln>
            <a:solidFill>
              <a:schemeClr val="accent3"/>
            </a:solidFill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7E85F6B-894E-F350-889F-B2229A781B3F}"/>
              </a:ext>
            </a:extLst>
          </p:cNvPr>
          <p:cNvSpPr txBox="1">
            <a:spLocks/>
          </p:cNvSpPr>
          <p:nvPr/>
        </p:nvSpPr>
        <p:spPr>
          <a:xfrm>
            <a:off x="576103" y="533480"/>
            <a:ext cx="10389071" cy="298548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Helvetica" pitchFamily="2" charset="0"/>
                <a:ea typeface="+mj-ea"/>
                <a:cs typeface="+mj-cs"/>
              </a:defRPr>
            </a:lvl1pPr>
          </a:lstStyle>
          <a:p>
            <a:pPr algn="l"/>
            <a:r>
              <a:rPr lang="en-PH" sz="1764" b="1" dirty="0">
                <a:solidFill>
                  <a:schemeClr val="accent4"/>
                </a:solidFill>
              </a:rPr>
              <a:t>HYPERPARAMETER TUNING</a:t>
            </a:r>
            <a:endParaRPr lang="en-US" sz="1764" b="1" dirty="0">
              <a:solidFill>
                <a:schemeClr val="accent4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0F3E12-FEB4-C870-DEC4-0C28B020C161}"/>
              </a:ext>
            </a:extLst>
          </p:cNvPr>
          <p:cNvSpPr txBox="1">
            <a:spLocks/>
          </p:cNvSpPr>
          <p:nvPr/>
        </p:nvSpPr>
        <p:spPr>
          <a:xfrm>
            <a:off x="576103" y="1099971"/>
            <a:ext cx="4941212" cy="1392926"/>
          </a:xfrm>
          <a:prstGeom prst="roundRect">
            <a:avLst>
              <a:gd name="adj" fmla="val 0"/>
            </a:avLst>
          </a:prstGeom>
          <a:solidFill>
            <a:schemeClr val="accent3">
              <a:lumMod val="20000"/>
              <a:lumOff val="80000"/>
            </a:schemeClr>
          </a:solidFill>
          <a:ln w="3175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>
                <a:solidFill>
                  <a:schemeClr val="accent4"/>
                </a:solidFill>
                <a:latin typeface="Helvetica" pitchFamily="2" charset="0"/>
              </a:rPr>
              <a:t>Tuning Strategy</a:t>
            </a:r>
          </a:p>
          <a:p>
            <a:pPr marL="117475" indent="-1111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200" b="1" dirty="0" err="1">
                <a:solidFill>
                  <a:schemeClr val="accent3"/>
                </a:solidFill>
                <a:latin typeface="Helvetica" pitchFamily="2" charset="0"/>
              </a:rPr>
              <a:t>RandomizedSearchCV</a:t>
            </a: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: 10 parameter combinations using 3-fold stratified CV</a:t>
            </a:r>
          </a:p>
          <a:p>
            <a:pPr marL="117475" indent="-1111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200" b="1" dirty="0" err="1">
                <a:solidFill>
                  <a:schemeClr val="accent3"/>
                </a:solidFill>
                <a:latin typeface="Helvetica" pitchFamily="2" charset="0"/>
              </a:rPr>
              <a:t>StratifiedKFold</a:t>
            </a: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 to preserve class distribution across folds</a:t>
            </a:r>
          </a:p>
          <a:p>
            <a:pPr marL="117475" indent="-1111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200" b="1" dirty="0">
                <a:solidFill>
                  <a:schemeClr val="accent3"/>
                </a:solidFill>
                <a:latin typeface="Helvetica" pitchFamily="2" charset="0"/>
              </a:rPr>
              <a:t>Optimized for F1-Score</a:t>
            </a: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 to balance recall (minimize fraud) and precision (operational efficiency)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69F0E3-3154-414A-7CC4-08AC7427B7A2}"/>
              </a:ext>
            </a:extLst>
          </p:cNvPr>
          <p:cNvSpPr txBox="1">
            <a:spLocks/>
          </p:cNvSpPr>
          <p:nvPr/>
        </p:nvSpPr>
        <p:spPr>
          <a:xfrm>
            <a:off x="576103" y="2806560"/>
            <a:ext cx="4941212" cy="334408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marL="635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accent4"/>
                </a:solidFill>
                <a:latin typeface="Helvetica" pitchFamily="2" charset="0"/>
              </a:rPr>
              <a:t>Summary of Performance Metrics – Before vs. After Tuning</a:t>
            </a:r>
            <a:endParaRPr lang="en-US" sz="1200" dirty="0">
              <a:solidFill>
                <a:schemeClr val="accent4"/>
              </a:solidFill>
              <a:latin typeface="Helvetica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B49C080-6314-43E4-0544-55B31D70960C}"/>
              </a:ext>
            </a:extLst>
          </p:cNvPr>
          <p:cNvSpPr txBox="1">
            <a:spLocks/>
          </p:cNvSpPr>
          <p:nvPr/>
        </p:nvSpPr>
        <p:spPr>
          <a:xfrm>
            <a:off x="5770638" y="3573016"/>
            <a:ext cx="4941212" cy="784604"/>
          </a:xfrm>
          <a:prstGeom prst="roundRect">
            <a:avLst>
              <a:gd name="adj" fmla="val 0"/>
            </a:avLst>
          </a:prstGeom>
          <a:noFill/>
          <a:ln w="28575">
            <a:solidFill>
              <a:schemeClr val="accent4"/>
            </a:solidFill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>
                <a:solidFill>
                  <a:schemeClr val="accent4"/>
                </a:solidFill>
                <a:latin typeface="Helvetica" pitchFamily="2" charset="0"/>
              </a:rPr>
              <a:t>Rank 1: Tuned </a:t>
            </a:r>
            <a:r>
              <a:rPr lang="en-US" sz="1200" b="1" dirty="0" err="1">
                <a:solidFill>
                  <a:schemeClr val="accent4"/>
                </a:solidFill>
                <a:latin typeface="Helvetica" pitchFamily="2" charset="0"/>
              </a:rPr>
              <a:t>XGBoost</a:t>
            </a:r>
            <a:r>
              <a:rPr lang="en-US" sz="1200" b="1" dirty="0">
                <a:solidFill>
                  <a:schemeClr val="accent4"/>
                </a:solidFill>
                <a:latin typeface="Helvetica" pitchFamily="2" charset="0"/>
              </a:rPr>
              <a:t> – Full Features Model</a:t>
            </a:r>
          </a:p>
          <a:p>
            <a:pPr indent="-111125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Best overall performance</a:t>
            </a:r>
          </a:p>
          <a:p>
            <a:pPr indent="-111125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Significant improvement in precision with minimal recall reduction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8B0898-C58F-5552-4109-67CDBA34940F}"/>
              </a:ext>
            </a:extLst>
          </p:cNvPr>
          <p:cNvSpPr txBox="1">
            <a:spLocks/>
          </p:cNvSpPr>
          <p:nvPr/>
        </p:nvSpPr>
        <p:spPr>
          <a:xfrm>
            <a:off x="5761037" y="4653136"/>
            <a:ext cx="4941212" cy="784604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accent3"/>
            </a:solidFill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>
                <a:solidFill>
                  <a:schemeClr val="accent3"/>
                </a:solidFill>
                <a:latin typeface="Helvetica" pitchFamily="2" charset="0"/>
              </a:rPr>
              <a:t>Rank 3: Tuned Random Forest – Full Features Model</a:t>
            </a:r>
          </a:p>
          <a:p>
            <a:pPr indent="-111125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Weakest performance among tuned models</a:t>
            </a:r>
          </a:p>
          <a:p>
            <a:pPr indent="-111125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Slight increase in recall offset by slight precision reduction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6BE474-3373-DF7B-D4C9-9C4E322C48E6}"/>
              </a:ext>
            </a:extLst>
          </p:cNvPr>
          <p:cNvSpPr txBox="1">
            <a:spLocks/>
          </p:cNvSpPr>
          <p:nvPr/>
        </p:nvSpPr>
        <p:spPr>
          <a:xfrm>
            <a:off x="5775855" y="5733256"/>
            <a:ext cx="4926394" cy="784604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accent3"/>
            </a:solidFill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>
                <a:solidFill>
                  <a:schemeClr val="accent3"/>
                </a:solidFill>
                <a:latin typeface="Helvetica" pitchFamily="2" charset="0"/>
              </a:rPr>
              <a:t>Rank 2: Tuned Random Forest – PCA Features Model</a:t>
            </a:r>
          </a:p>
          <a:p>
            <a:pPr indent="-111125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Almost no change after tuning → baseline already strong</a:t>
            </a:r>
          </a:p>
          <a:p>
            <a:pPr indent="-111125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Negligible PR-AUC change, slight improvement in recall &amp; precision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DF94350-895D-E992-4E32-E0D7F71560DD}"/>
              </a:ext>
            </a:extLst>
          </p:cNvPr>
          <p:cNvSpPr txBox="1">
            <a:spLocks/>
          </p:cNvSpPr>
          <p:nvPr/>
        </p:nvSpPr>
        <p:spPr>
          <a:xfrm>
            <a:off x="5761037" y="1099970"/>
            <a:ext cx="4941212" cy="1824973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 w="3175">
            <a:noFill/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200" b="1" dirty="0">
                <a:solidFill>
                  <a:schemeClr val="bg1"/>
                </a:solidFill>
                <a:latin typeface="Helvetica" pitchFamily="2" charset="0"/>
              </a:rPr>
              <a:t>Selected Model</a:t>
            </a:r>
          </a:p>
          <a:p>
            <a:pPr marL="635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Helvetica" pitchFamily="2" charset="0"/>
              </a:rPr>
              <a:t>Tuned </a:t>
            </a:r>
            <a:r>
              <a:rPr lang="en-US" sz="1600" b="1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Helvetica" pitchFamily="2" charset="0"/>
              </a:rPr>
              <a:t>XGBoost</a:t>
            </a: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Helvetica" pitchFamily="2" charset="0"/>
              </a:rPr>
              <a:t> – Full Features</a:t>
            </a:r>
          </a:p>
          <a:p>
            <a:pPr marL="635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en-US" sz="1000" dirty="0">
              <a:solidFill>
                <a:schemeClr val="accent4">
                  <a:lumMod val="20000"/>
                  <a:lumOff val="80000"/>
                </a:schemeClr>
              </a:solidFill>
              <a:latin typeface="Helvetica" pitchFamily="2" charset="0"/>
            </a:endParaRPr>
          </a:p>
          <a:p>
            <a:pPr marL="117475" indent="-1111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200" b="1" dirty="0">
                <a:solidFill>
                  <a:schemeClr val="bg1"/>
                </a:solidFill>
                <a:latin typeface="Helvetica" pitchFamily="2" charset="0"/>
              </a:rPr>
              <a:t>Highest PR-AUC: </a:t>
            </a:r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Best performance across classification thresholds in an imbalanced setting</a:t>
            </a:r>
          </a:p>
          <a:p>
            <a:pPr marL="117475" indent="-1111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1200" b="1" dirty="0">
                <a:solidFill>
                  <a:schemeClr val="bg1"/>
                </a:solidFill>
                <a:latin typeface="Helvetica" pitchFamily="2" charset="0"/>
              </a:rPr>
              <a:t>Highest F1-Score: </a:t>
            </a:r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Strong balance between fraud detection and operational efficiency (low false positives)</a:t>
            </a:r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D7D5FBF4-B7B1-9B7D-5CA2-55D3142A83B9}"/>
              </a:ext>
            </a:extLst>
          </p:cNvPr>
          <p:cNvCxnSpPr>
            <a:cxnSpLocks/>
            <a:stCxn id="7" idx="0"/>
            <a:endCxn id="11" idx="2"/>
          </p:cNvCxnSpPr>
          <p:nvPr/>
        </p:nvCxnSpPr>
        <p:spPr>
          <a:xfrm rot="16200000" flipV="1">
            <a:off x="7907608" y="3248979"/>
            <a:ext cx="648073" cy="0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ight Brace 14">
            <a:extLst>
              <a:ext uri="{FF2B5EF4-FFF2-40B4-BE49-F238E27FC236}">
                <a16:creationId xmlns:a16="http://schemas.microsoft.com/office/drawing/2014/main" id="{1819C970-B88D-C8B7-26C2-3368BD2A28B5}"/>
              </a:ext>
            </a:extLst>
          </p:cNvPr>
          <p:cNvSpPr/>
          <p:nvPr/>
        </p:nvSpPr>
        <p:spPr>
          <a:xfrm>
            <a:off x="5517315" y="3475376"/>
            <a:ext cx="171714" cy="961736"/>
          </a:xfrm>
          <a:prstGeom prst="rightBrac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6C5788FA-E58F-E0DE-AB8B-6A3E68BFBAC4}"/>
              </a:ext>
            </a:extLst>
          </p:cNvPr>
          <p:cNvSpPr/>
          <p:nvPr/>
        </p:nvSpPr>
        <p:spPr>
          <a:xfrm>
            <a:off x="5555681" y="4510142"/>
            <a:ext cx="171714" cy="961736"/>
          </a:xfrm>
          <a:prstGeom prst="rightBrac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24511FE7-0544-66B8-7598-4CD558C50C02}"/>
              </a:ext>
            </a:extLst>
          </p:cNvPr>
          <p:cNvSpPr/>
          <p:nvPr/>
        </p:nvSpPr>
        <p:spPr>
          <a:xfrm>
            <a:off x="5555681" y="5577802"/>
            <a:ext cx="171714" cy="961736"/>
          </a:xfrm>
          <a:prstGeom prst="rightBrac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163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058DC-F65A-5A30-05B5-827D5287D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D6A6F3A-38CD-9C33-6EB2-7C52F2A586C0}"/>
              </a:ext>
            </a:extLst>
          </p:cNvPr>
          <p:cNvSpPr/>
          <p:nvPr/>
        </p:nvSpPr>
        <p:spPr>
          <a:xfrm>
            <a:off x="576103" y="1036752"/>
            <a:ext cx="10389070" cy="33832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CA4985-8D6D-3782-01D7-960B316F9D1E}"/>
              </a:ext>
            </a:extLst>
          </p:cNvPr>
          <p:cNvSpPr txBox="1">
            <a:spLocks/>
          </p:cNvSpPr>
          <p:nvPr/>
        </p:nvSpPr>
        <p:spPr>
          <a:xfrm>
            <a:off x="576103" y="533480"/>
            <a:ext cx="10389071" cy="298548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Helvetica" pitchFamily="2" charset="0"/>
                <a:ea typeface="+mj-ea"/>
                <a:cs typeface="+mj-cs"/>
              </a:defRPr>
            </a:lvl1pPr>
          </a:lstStyle>
          <a:p>
            <a:pPr algn="l"/>
            <a:r>
              <a:rPr lang="en-PH" sz="1764" b="1" dirty="0">
                <a:solidFill>
                  <a:schemeClr val="accent4"/>
                </a:solidFill>
              </a:rPr>
              <a:t>MODEL FINALIZATION</a:t>
            </a:r>
            <a:endParaRPr lang="en-US" sz="1764" b="1" dirty="0">
              <a:solidFill>
                <a:schemeClr val="accent4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8EC851-35D6-4BAF-B4D9-5D15E775C5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477" y="1484785"/>
            <a:ext cx="5577840" cy="260064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2DC169C-8AA3-F6BE-4E79-7EDE81DA2EB2}"/>
              </a:ext>
            </a:extLst>
          </p:cNvPr>
          <p:cNvSpPr txBox="1">
            <a:spLocks/>
          </p:cNvSpPr>
          <p:nvPr/>
        </p:nvSpPr>
        <p:spPr>
          <a:xfrm>
            <a:off x="640955" y="1149238"/>
            <a:ext cx="2232248" cy="233184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 marL="63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400" b="1" dirty="0">
                <a:solidFill>
                  <a:schemeClr val="accent3"/>
                </a:solidFill>
                <a:latin typeface="Helvetica" pitchFamily="2" charset="0"/>
              </a:rPr>
              <a:t>Threshold Optimization</a:t>
            </a:r>
            <a:endParaRPr lang="en-US" sz="1400" dirty="0">
              <a:solidFill>
                <a:schemeClr val="accent3"/>
              </a:solidFill>
              <a:latin typeface="Helvetica" pitchFamily="2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728BD8E-2846-AF68-0B98-63ECF1BAC5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813570"/>
              </p:ext>
            </p:extLst>
          </p:nvPr>
        </p:nvGraphicFramePr>
        <p:xfrm>
          <a:off x="6425134" y="2533112"/>
          <a:ext cx="4413221" cy="15523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061">
                  <a:extLst>
                    <a:ext uri="{9D8B030D-6E8A-4147-A177-3AD203B41FA5}">
                      <a16:colId xmlns:a16="http://schemas.microsoft.com/office/drawing/2014/main" val="246374362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65484561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4764654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1269778371"/>
                    </a:ext>
                  </a:extLst>
                </a:gridCol>
              </a:tblGrid>
              <a:tr h="35334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Helvetica" pitchFamily="2" charset="0"/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Helvetica" pitchFamily="2" charset="0"/>
                        </a:rPr>
                        <a:t>Threshold = 0.75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Helvetica" pitchFamily="2" charset="0"/>
                        </a:rPr>
                        <a:t>Threshold = 0.50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Helvetica" pitchFamily="2" charset="0"/>
                        </a:rPr>
                        <a:t>Rationale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640324"/>
                  </a:ext>
                </a:extLst>
              </a:tr>
              <a:tr h="375199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Precision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Helvetica" pitchFamily="2" charset="0"/>
                        </a:rPr>
                        <a:t>0.9615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Helvetica" pitchFamily="2" charset="0"/>
                        </a:rPr>
                        <a:t>0.9048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Helvetica" pitchFamily="2" charset="0"/>
                        </a:rPr>
                        <a:t>Significant improvement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07261"/>
                  </a:ext>
                </a:extLst>
              </a:tr>
              <a:tr h="375199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Recall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Helvetica" pitchFamily="2" charset="0"/>
                        </a:rPr>
                        <a:t>0.7895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Helvetica" pitchFamily="2" charset="0"/>
                        </a:rPr>
                        <a:t>0.8000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Helvetica" pitchFamily="2" charset="0"/>
                        </a:rPr>
                        <a:t>Slight trade-off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274698"/>
                  </a:ext>
                </a:extLst>
              </a:tr>
              <a:tr h="375199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F1-Score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Helvetica" pitchFamily="2" charset="0"/>
                        </a:rPr>
                        <a:t>0.8671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Helvetica" pitchFamily="2" charset="0"/>
                        </a:rPr>
                        <a:t>0.8492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Helvetica" pitchFamily="2" charset="0"/>
                        </a:rPr>
                        <a:t>Better overall balance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644022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A10F8E9D-254D-A28B-E524-6EC3741A613A}"/>
              </a:ext>
            </a:extLst>
          </p:cNvPr>
          <p:cNvSpPr txBox="1">
            <a:spLocks/>
          </p:cNvSpPr>
          <p:nvPr/>
        </p:nvSpPr>
        <p:spPr>
          <a:xfrm>
            <a:off x="6450798" y="1484785"/>
            <a:ext cx="4413221" cy="875323"/>
          </a:xfrm>
          <a:prstGeom prst="roundRect">
            <a:avLst>
              <a:gd name="adj" fmla="val 0"/>
            </a:avLst>
          </a:prstGeom>
          <a:noFill/>
          <a:ln w="28575">
            <a:noFill/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>
                <a:solidFill>
                  <a:schemeClr val="accent4"/>
                </a:solidFill>
                <a:latin typeface="Helvetica" pitchFamily="2" charset="0"/>
              </a:rPr>
              <a:t>Optimal Threshold = 0.75</a:t>
            </a:r>
          </a:p>
          <a:p>
            <a:pPr indent="-111125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More conservative model (fewer false positives)</a:t>
            </a:r>
          </a:p>
          <a:p>
            <a:pPr indent="-111125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Slightly more missed fraud cases (reduced recall)</a:t>
            </a:r>
          </a:p>
          <a:p>
            <a:pPr indent="-111125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Better balance of recall-precision trade-off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214126-5122-2DD9-76A0-3C5F89EA5E76}"/>
              </a:ext>
            </a:extLst>
          </p:cNvPr>
          <p:cNvSpPr/>
          <p:nvPr/>
        </p:nvSpPr>
        <p:spPr>
          <a:xfrm>
            <a:off x="576103" y="4868065"/>
            <a:ext cx="10389070" cy="13692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D2554BB7-EF9D-3CC9-97AE-6E1D1EDA9461}"/>
              </a:ext>
            </a:extLst>
          </p:cNvPr>
          <p:cNvSpPr/>
          <p:nvPr/>
        </p:nvSpPr>
        <p:spPr>
          <a:xfrm>
            <a:off x="5653025" y="4502953"/>
            <a:ext cx="216024" cy="274320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1B12705-E1B7-BE83-8699-35DB336DB646}"/>
              </a:ext>
            </a:extLst>
          </p:cNvPr>
          <p:cNvSpPr txBox="1">
            <a:spLocks/>
          </p:cNvSpPr>
          <p:nvPr/>
        </p:nvSpPr>
        <p:spPr>
          <a:xfrm>
            <a:off x="784971" y="5002437"/>
            <a:ext cx="1944216" cy="1100502"/>
          </a:xfrm>
          <a:prstGeom prst="roundRect">
            <a:avLst>
              <a:gd name="adj" fmla="val 0"/>
            </a:avLst>
          </a:prstGeom>
          <a:noFill/>
          <a:ln w="28575">
            <a:noFill/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>
                <a:solidFill>
                  <a:schemeClr val="bg1"/>
                </a:solidFill>
                <a:latin typeface="Helvetica" pitchFamily="2" charset="0"/>
              </a:rPr>
              <a:t>Final Model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Helvetica" pitchFamily="2" charset="0"/>
              </a:rPr>
              <a:t>Tuned </a:t>
            </a:r>
            <a:r>
              <a:rPr lang="en-US" sz="1600" b="1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Helvetica" pitchFamily="2" charset="0"/>
              </a:rPr>
              <a:t>XGBoost</a:t>
            </a: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Helvetica" pitchFamily="2" charset="0"/>
              </a:rPr>
              <a:t>, Full Feature Set, Threshold = 0.75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CBB2199-F0EC-507E-6B25-A9CF0716C049}"/>
              </a:ext>
            </a:extLst>
          </p:cNvPr>
          <p:cNvSpPr txBox="1">
            <a:spLocks/>
          </p:cNvSpPr>
          <p:nvPr/>
        </p:nvSpPr>
        <p:spPr>
          <a:xfrm>
            <a:off x="2808709" y="4961640"/>
            <a:ext cx="6035040" cy="548640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/>
            </a:solidFill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000" b="1" dirty="0">
                <a:solidFill>
                  <a:schemeClr val="accent4"/>
                </a:solidFill>
                <a:latin typeface="Helvetica" pitchFamily="2" charset="0"/>
              </a:rPr>
              <a:t>High precision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More reliable fraud alerts → Reduced operational burden and customer friction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9DAD91A-F339-4510-6A7B-23A2EEFE5974}"/>
              </a:ext>
            </a:extLst>
          </p:cNvPr>
          <p:cNvSpPr txBox="1">
            <a:spLocks/>
          </p:cNvSpPr>
          <p:nvPr/>
        </p:nvSpPr>
        <p:spPr>
          <a:xfrm>
            <a:off x="2808709" y="5601072"/>
            <a:ext cx="6035040" cy="548640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/>
            </a:solidFill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000" b="1" dirty="0">
                <a:solidFill>
                  <a:schemeClr val="accent4"/>
                </a:solidFill>
                <a:latin typeface="Helvetica" pitchFamily="2" charset="0"/>
              </a:rPr>
              <a:t>Slightly lower recall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Some undetected fraud → Need complementary mechanisms to manage missed fraud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580F7F0-FC51-CBC1-E4D5-3BA9DC75E2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000" r="65830" b="183"/>
          <a:stretch>
            <a:fillRect/>
          </a:stretch>
        </p:blipFill>
        <p:spPr>
          <a:xfrm>
            <a:off x="9044364" y="5235960"/>
            <a:ext cx="1709812" cy="619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941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19652-8536-E1E8-80DA-148DC2980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49374E5-0FE1-07C8-BE0B-C075E44E93D6}"/>
              </a:ext>
            </a:extLst>
          </p:cNvPr>
          <p:cNvSpPr/>
          <p:nvPr/>
        </p:nvSpPr>
        <p:spPr>
          <a:xfrm>
            <a:off x="6978827" y="1149466"/>
            <a:ext cx="3582211" cy="510067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7B04E5-9244-D4A4-A1DF-492243490FBB}"/>
              </a:ext>
            </a:extLst>
          </p:cNvPr>
          <p:cNvSpPr txBox="1">
            <a:spLocks/>
          </p:cNvSpPr>
          <p:nvPr/>
        </p:nvSpPr>
        <p:spPr>
          <a:xfrm>
            <a:off x="576103" y="533480"/>
            <a:ext cx="10389071" cy="298548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Helvetica" pitchFamily="2" charset="0"/>
                <a:ea typeface="+mj-ea"/>
                <a:cs typeface="+mj-cs"/>
              </a:defRPr>
            </a:lvl1pPr>
          </a:lstStyle>
          <a:p>
            <a:pPr algn="l"/>
            <a:r>
              <a:rPr lang="en-PH" sz="1764" b="1" dirty="0">
                <a:solidFill>
                  <a:schemeClr val="accent4"/>
                </a:solidFill>
              </a:rPr>
              <a:t>MODEL LIMITATIONS</a:t>
            </a:r>
            <a:endParaRPr lang="en-US" sz="1764" b="1" dirty="0">
              <a:solidFill>
                <a:schemeClr val="accent4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79E8E4-97E9-415D-D9AA-1ACE957CB471}"/>
              </a:ext>
            </a:extLst>
          </p:cNvPr>
          <p:cNvSpPr/>
          <p:nvPr/>
        </p:nvSpPr>
        <p:spPr>
          <a:xfrm>
            <a:off x="586590" y="1149466"/>
            <a:ext cx="6181719" cy="11887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7FF0B2-E659-9A04-91A2-9F212CB7F9EE}"/>
              </a:ext>
            </a:extLst>
          </p:cNvPr>
          <p:cNvSpPr/>
          <p:nvPr/>
        </p:nvSpPr>
        <p:spPr>
          <a:xfrm>
            <a:off x="557567" y="2490931"/>
            <a:ext cx="6218090" cy="375920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F4A1FCB-A9DE-6003-4729-91380319AF93}"/>
              </a:ext>
            </a:extLst>
          </p:cNvPr>
          <p:cNvSpPr txBox="1">
            <a:spLocks/>
          </p:cNvSpPr>
          <p:nvPr/>
        </p:nvSpPr>
        <p:spPr>
          <a:xfrm>
            <a:off x="701584" y="3677590"/>
            <a:ext cx="1474893" cy="608446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000" b="1" dirty="0">
                <a:solidFill>
                  <a:schemeClr val="accent3"/>
                </a:solidFill>
                <a:latin typeface="Helvetica" pitchFamily="2" charset="0"/>
              </a:rPr>
              <a:t>Global Explainability</a:t>
            </a:r>
          </a:p>
          <a:p>
            <a:pPr marL="63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000" dirty="0">
                <a:solidFill>
                  <a:schemeClr val="accent3"/>
                </a:solidFill>
                <a:latin typeface="Helvetica" pitchFamily="2" charset="0"/>
              </a:rPr>
              <a:t>Key variables strongly influence predictions.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884401F-1D5F-4EF9-276C-0AEC7AE212CA}"/>
              </a:ext>
            </a:extLst>
          </p:cNvPr>
          <p:cNvSpPr txBox="1">
            <a:spLocks/>
          </p:cNvSpPr>
          <p:nvPr/>
        </p:nvSpPr>
        <p:spPr>
          <a:xfrm>
            <a:off x="2440743" y="3672077"/>
            <a:ext cx="4298543" cy="457200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000" b="1" dirty="0">
                <a:solidFill>
                  <a:schemeClr val="accent3"/>
                </a:solidFill>
                <a:latin typeface="Helvetica" pitchFamily="2" charset="0"/>
              </a:rPr>
              <a:t>Local Explainability</a:t>
            </a:r>
          </a:p>
          <a:p>
            <a:pPr marL="63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000" dirty="0">
                <a:solidFill>
                  <a:schemeClr val="accent3"/>
                </a:solidFill>
                <a:latin typeface="Helvetica" pitchFamily="2" charset="0"/>
              </a:rPr>
              <a:t>Individual decisions are explainable at the transaction level.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2F3C26-C690-B19B-88F0-F57A082CB2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84" y="4290719"/>
            <a:ext cx="1474893" cy="1828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DFB1E3-89A4-4FD3-0838-5F37586981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7613" y="4290721"/>
            <a:ext cx="1993055" cy="1828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872582-B2D8-67AE-68F2-82946AE519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015" y="4290721"/>
            <a:ext cx="2066295" cy="18288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5EAC27EC-8A14-4158-585B-C52BE37EAF55}"/>
              </a:ext>
            </a:extLst>
          </p:cNvPr>
          <p:cNvSpPr txBox="1">
            <a:spLocks/>
          </p:cNvSpPr>
          <p:nvPr/>
        </p:nvSpPr>
        <p:spPr>
          <a:xfrm>
            <a:off x="697158" y="1256036"/>
            <a:ext cx="4041041" cy="784604"/>
          </a:xfrm>
          <a:prstGeom prst="roundRect">
            <a:avLst>
              <a:gd name="adj" fmla="val 0"/>
            </a:avLst>
          </a:prstGeom>
          <a:noFill/>
          <a:ln w="12700">
            <a:noFill/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>
                <a:solidFill>
                  <a:schemeClr val="accent4"/>
                </a:solidFill>
                <a:latin typeface="Helvetica" pitchFamily="2" charset="0"/>
              </a:rPr>
              <a:t>Model Performance Limitations</a:t>
            </a:r>
          </a:p>
          <a:p>
            <a:pPr indent="-111125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False negatives → Missed fraud transactions</a:t>
            </a:r>
          </a:p>
          <a:p>
            <a:pPr indent="-111125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False positives → Operational burden, customer friction 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9092273-0B2D-4FDC-4542-9A8BB7811BB7}"/>
              </a:ext>
            </a:extLst>
          </p:cNvPr>
          <p:cNvSpPr txBox="1">
            <a:spLocks/>
          </p:cNvSpPr>
          <p:nvPr/>
        </p:nvSpPr>
        <p:spPr>
          <a:xfrm>
            <a:off x="7057181" y="1271136"/>
            <a:ext cx="3331179" cy="1653808"/>
          </a:xfrm>
          <a:prstGeom prst="roundRect">
            <a:avLst>
              <a:gd name="adj" fmla="val 0"/>
            </a:avLst>
          </a:prstGeom>
          <a:noFill/>
          <a:ln w="12700">
            <a:noFill/>
          </a:ln>
        </p:spPr>
        <p:txBody>
          <a:bodyPr vert="horz" lIns="86416" tIns="43208" rIns="86416" bIns="432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>
                <a:solidFill>
                  <a:schemeClr val="accent4"/>
                </a:solidFill>
                <a:latin typeface="Helvetica" pitchFamily="2" charset="0"/>
              </a:rPr>
              <a:t>Fairness and Subgroup Limitations</a:t>
            </a:r>
          </a:p>
          <a:p>
            <a:pPr marL="114300" indent="-1095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Uneven fraud detection across time bands</a:t>
            </a:r>
          </a:p>
          <a:p>
            <a:pPr marL="114300" indent="-1095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Threshold adjustment did not resolve subgroup disparities</a:t>
            </a:r>
          </a:p>
          <a:p>
            <a:pPr marL="114300" indent="-10953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Unobserved demographic groups may also show disparities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444D988-F58A-0FF7-D802-D031384237FC}"/>
              </a:ext>
            </a:extLst>
          </p:cNvPr>
          <p:cNvSpPr txBox="1">
            <a:spLocks/>
          </p:cNvSpPr>
          <p:nvPr/>
        </p:nvSpPr>
        <p:spPr>
          <a:xfrm>
            <a:off x="697157" y="2571004"/>
            <a:ext cx="5207895" cy="1020351"/>
          </a:xfrm>
          <a:prstGeom prst="roundRect">
            <a:avLst>
              <a:gd name="adj" fmla="val 0"/>
            </a:avLst>
          </a:prstGeom>
          <a:noFill/>
          <a:ln w="12700">
            <a:noFill/>
          </a:ln>
        </p:spPr>
        <p:txBody>
          <a:bodyPr vert="horz" lIns="86416" tIns="43208" rIns="86416" bIns="432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Proxima Nova Alt Rg" panose="02000506030000020004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>
                <a:solidFill>
                  <a:schemeClr val="accent4"/>
                </a:solidFill>
                <a:latin typeface="Helvetica" pitchFamily="2" charset="0"/>
              </a:rPr>
              <a:t>Interpretability and Transparency Limitations</a:t>
            </a:r>
          </a:p>
          <a:p>
            <a:pPr indent="-111125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Key predictors are PCA-transformed → Explainable but not actionable</a:t>
            </a:r>
          </a:p>
          <a:p>
            <a:pPr indent="-111125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SHAP explains model behavior, but not business meaning</a:t>
            </a:r>
          </a:p>
          <a:p>
            <a:pPr indent="-111125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chemeClr val="accent3"/>
                </a:solidFill>
                <a:latin typeface="Helvetica" pitchFamily="2" charset="0"/>
              </a:rPr>
              <a:t>Limited ability to translate model outputs into actionable insights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F909F86-D719-EC6F-C9CB-869D7300142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420" y="2990500"/>
            <a:ext cx="2974847" cy="14630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2F09F84-73D6-BA88-4E4B-ABEFFDCAD68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346" y="4609312"/>
            <a:ext cx="2974848" cy="146304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F5322D6-E6BF-746F-CD5A-D432ADA61D0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2793" y="1307569"/>
            <a:ext cx="180086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238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98B2D-F669-2D52-76FE-52D3F811A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AC734-9DC5-2ABE-B3C5-9F7735F21A0C}"/>
              </a:ext>
            </a:extLst>
          </p:cNvPr>
          <p:cNvSpPr txBox="1">
            <a:spLocks/>
          </p:cNvSpPr>
          <p:nvPr/>
        </p:nvSpPr>
        <p:spPr>
          <a:xfrm>
            <a:off x="576103" y="533480"/>
            <a:ext cx="10389071" cy="298548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Helvetica" pitchFamily="2" charset="0"/>
                <a:ea typeface="+mj-ea"/>
                <a:cs typeface="+mj-cs"/>
              </a:defRPr>
            </a:lvl1pPr>
          </a:lstStyle>
          <a:p>
            <a:pPr algn="l"/>
            <a:r>
              <a:rPr lang="en-PH" sz="1764" b="1" dirty="0">
                <a:solidFill>
                  <a:schemeClr val="accent4"/>
                </a:solidFill>
              </a:rPr>
              <a:t>RISK MITIGATION AND ETHICAL AI</a:t>
            </a:r>
            <a:endParaRPr lang="en-US" sz="1764" b="1" dirty="0">
              <a:solidFill>
                <a:schemeClr val="accent4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41D9BA2-7ED6-8D8E-778A-3CCFADF0E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591762"/>
              </p:ext>
            </p:extLst>
          </p:nvPr>
        </p:nvGraphicFramePr>
        <p:xfrm>
          <a:off x="1225549" y="1484784"/>
          <a:ext cx="9144000" cy="41833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46374362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65484561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26977837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971254025"/>
                    </a:ext>
                  </a:extLst>
                </a:gridCol>
              </a:tblGrid>
              <a:tr h="500531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Helvetica" pitchFamily="2" charset="0"/>
                        </a:rPr>
                        <a:t>Priority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Helvetica" pitchFamily="2" charset="0"/>
                        </a:rPr>
                        <a:t>Risk 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Helvetica" pitchFamily="2" charset="0"/>
                        </a:rPr>
                        <a:t>Mitigation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Helvetica" pitchFamily="2" charset="0"/>
                        </a:rPr>
                        <a:t>Ethical AI Considerations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640324"/>
                  </a:ext>
                </a:extLst>
              </a:tr>
              <a:tr h="53149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4"/>
                          </a:solidFill>
                          <a:latin typeface="Helvetica" pitchFamily="2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Helvetica" pitchFamily="2" charset="0"/>
                        </a:rPr>
                        <a:t>Missed fraudulent transactions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Helvetica" pitchFamily="2" charset="0"/>
                        </a:rPr>
                        <a:t>Feature engineering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latin typeface="Helvetica" pitchFamily="2" charset="0"/>
                        </a:rPr>
                        <a:t>Transparency: </a:t>
                      </a:r>
                      <a:r>
                        <a:rPr lang="en-US" sz="1200" b="0" dirty="0">
                          <a:latin typeface="Helvetica" pitchFamily="2" charset="0"/>
                        </a:rPr>
                        <a:t>Document model limitations</a:t>
                      </a:r>
                      <a:endParaRPr lang="en-US" sz="12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107261"/>
                  </a:ext>
                </a:extLst>
              </a:tr>
              <a:tr h="6549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4"/>
                          </a:solidFill>
                          <a:latin typeface="Helvetica" pitchFamily="2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Helvetica" pitchFamily="2" charset="0"/>
                        </a:rPr>
                        <a:t>Uneven fraud detection performance across transaction segments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4625" indent="-174625" algn="l">
                        <a:buFont typeface="Wingdings" pitchFamily="2" charset="2"/>
                        <a:buChar char="§"/>
                        <a:tabLst/>
                      </a:pPr>
                      <a:r>
                        <a:rPr lang="en-US" sz="1200" dirty="0">
                          <a:latin typeface="Helvetica" pitchFamily="2" charset="0"/>
                        </a:rPr>
                        <a:t>Feature engineering</a:t>
                      </a:r>
                    </a:p>
                    <a:p>
                      <a:pPr marL="174625" indent="-174625" algn="l">
                        <a:buFont typeface="Wingdings" pitchFamily="2" charset="2"/>
                        <a:buChar char="§"/>
                        <a:tabLst/>
                      </a:pPr>
                      <a:r>
                        <a:rPr lang="en-US" sz="1200" dirty="0">
                          <a:latin typeface="Helvetica" pitchFamily="2" charset="0"/>
                        </a:rPr>
                        <a:t>Regular fairness monitoring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latin typeface="Helvetica" pitchFamily="2" charset="0"/>
                        </a:rPr>
                        <a:t>Fairness Monitoring: </a:t>
                      </a:r>
                      <a:r>
                        <a:rPr lang="en-US" sz="1200" b="0" dirty="0">
                          <a:latin typeface="Helvetica" pitchFamily="2" charset="0"/>
                        </a:rPr>
                        <a:t>Track subgroup performance</a:t>
                      </a:r>
                      <a:endParaRPr lang="en-US" sz="12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274698"/>
                  </a:ext>
                </a:extLst>
              </a:tr>
              <a:tr h="6549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4"/>
                          </a:solidFill>
                          <a:latin typeface="Helvetica" pitchFamily="2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Helvetica" pitchFamily="2" charset="0"/>
                        </a:rPr>
                        <a:t>Limitation of threshold-based optimization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Helvetica" pitchFamily="2" charset="0"/>
                        </a:rPr>
                        <a:t>Multi-stage or context-aware decision framework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latin typeface="Helvetica" pitchFamily="2" charset="0"/>
                        </a:rPr>
                        <a:t>Balanced Decisioning: </a:t>
                      </a:r>
                      <a:r>
                        <a:rPr lang="en-US" sz="1200" b="0" dirty="0">
                          <a:latin typeface="Helvetica" pitchFamily="2" charset="0"/>
                        </a:rPr>
                        <a:t>Avoid systemic bias</a:t>
                      </a:r>
                      <a:endParaRPr lang="en-US" sz="12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0644022"/>
                  </a:ext>
                </a:extLst>
              </a:tr>
              <a:tr h="53149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4"/>
                          </a:solidFill>
                          <a:latin typeface="Helvetica" pitchFamily="2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Helvetica" pitchFamily="2" charset="0"/>
                        </a:rPr>
                        <a:t>Need for continuous governance and fairness monitoring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Helvetica" pitchFamily="2" charset="0"/>
                        </a:rPr>
                        <a:t>Metrics monitoring system across relevant segments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latin typeface="Helvetica" pitchFamily="2" charset="0"/>
                        </a:rPr>
                        <a:t>Auditability: </a:t>
                      </a:r>
                      <a:r>
                        <a:rPr lang="en-US" sz="1200" b="0" dirty="0">
                          <a:latin typeface="Helvetica" pitchFamily="2" charset="0"/>
                        </a:rPr>
                        <a:t>Maintain logs and model tracking</a:t>
                      </a:r>
                      <a:endParaRPr lang="en-US" sz="12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1479317"/>
                  </a:ext>
                </a:extLst>
              </a:tr>
              <a:tr h="6549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3"/>
                          </a:solidFill>
                          <a:latin typeface="Helvetica" pitchFamily="2" charset="0"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Helvetica" pitchFamily="2" charset="0"/>
                        </a:rPr>
                        <a:t>Operational impact of false positives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Helvetica" pitchFamily="2" charset="0"/>
                        </a:rPr>
                        <a:t>Tiered decision framework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latin typeface="Helvetica" pitchFamily="2" charset="0"/>
                        </a:rPr>
                        <a:t>Customer Impact: </a:t>
                      </a:r>
                      <a:r>
                        <a:rPr lang="en-US" sz="1200" b="0" dirty="0">
                          <a:latin typeface="Helvetica" pitchFamily="2" charset="0"/>
                        </a:rPr>
                        <a:t>Reduce friction</a:t>
                      </a:r>
                      <a:endParaRPr lang="en-US" sz="12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2131588"/>
                  </a:ext>
                </a:extLst>
              </a:tr>
              <a:tr h="6549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3"/>
                          </a:solidFill>
                          <a:latin typeface="Helvetica" pitchFamily="2" charset="0"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Helvetica" pitchFamily="2" charset="0"/>
                        </a:rPr>
                        <a:t>Limited business interpretability of anonymized and transformed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4625" indent="-174625" algn="l" defTabSz="914400" rtl="0" eaLnBrk="1" latinLnBrk="0" hangingPunct="1">
                        <a:buFont typeface="Wingdings" pitchFamily="2" charset="2"/>
                        <a:buChar char="§"/>
                        <a:tabLst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itchFamily="2" charset="0"/>
                          <a:ea typeface="+mn-ea"/>
                          <a:cs typeface="+mn-cs"/>
                        </a:rPr>
                        <a:t>Interpretable monitoring features</a:t>
                      </a:r>
                    </a:p>
                    <a:p>
                      <a:pPr marL="174625" indent="-174625" algn="l" defTabSz="914400" rtl="0" eaLnBrk="1" latinLnBrk="0" hangingPunct="1">
                        <a:buFont typeface="Wingdings" pitchFamily="2" charset="2"/>
                        <a:buChar char="§"/>
                        <a:tabLst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itchFamily="2" charset="0"/>
                          <a:ea typeface="+mn-ea"/>
                          <a:cs typeface="+mn-cs"/>
                        </a:rPr>
                        <a:t>Business-facing explanation layers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latin typeface="Helvetica" pitchFamily="2" charset="0"/>
                        </a:rPr>
                        <a:t>Human Oversight: </a:t>
                      </a:r>
                      <a:r>
                        <a:rPr lang="en-US" sz="1200" b="0" dirty="0">
                          <a:latin typeface="Helvetica" pitchFamily="2" charset="0"/>
                        </a:rPr>
                        <a:t>Enable explainability</a:t>
                      </a:r>
                      <a:endParaRPr lang="en-US" sz="12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9256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2859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IM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8A2D1"/>
      </a:accent1>
      <a:accent2>
        <a:srgbClr val="079A56"/>
      </a:accent2>
      <a:accent3>
        <a:srgbClr val="3A3257"/>
      </a:accent3>
      <a:accent4>
        <a:srgbClr val="722D79"/>
      </a:accent4>
      <a:accent5>
        <a:srgbClr val="FDD308"/>
      </a:accent5>
      <a:accent6>
        <a:srgbClr val="FEFFFF"/>
      </a:accent6>
      <a:hlink>
        <a:srgbClr val="0432FF"/>
      </a:hlink>
      <a:folHlink>
        <a:srgbClr val="955F7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18848</TotalTime>
  <Words>1253</Words>
  <Application>Microsoft Macintosh PowerPoint</Application>
  <PresentationFormat>Custom</PresentationFormat>
  <Paragraphs>294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Helvetica</vt:lpstr>
      <vt:lpstr>Wingdings</vt:lpstr>
      <vt:lpstr>Office Theme</vt:lpstr>
      <vt:lpstr>John Paul Aguinaldo Post-Graduate Diploma in AI and Machine Learning March 2026</vt:lpstr>
      <vt:lpstr>PROBLEM DEFINITION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esgubat</dc:creator>
  <cp:lastModifiedBy>John Aguinaldo</cp:lastModifiedBy>
  <cp:revision>134</cp:revision>
  <cp:lastPrinted>2024-11-05T06:51:55Z</cp:lastPrinted>
  <dcterms:created xsi:type="dcterms:W3CDTF">2023-10-12T02:35:22Z</dcterms:created>
  <dcterms:modified xsi:type="dcterms:W3CDTF">2026-03-26T06:49:26Z</dcterms:modified>
</cp:coreProperties>
</file>