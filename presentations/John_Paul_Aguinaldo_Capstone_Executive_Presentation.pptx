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95" r:id="rId2"/>
    <p:sldId id="2326" r:id="rId3"/>
    <p:sldId id="2327" r:id="rId4"/>
    <p:sldId id="2328" r:id="rId5"/>
    <p:sldId id="2329" r:id="rId6"/>
    <p:sldId id="2330" r:id="rId7"/>
    <p:sldId id="2331" r:id="rId8"/>
    <p:sldId id="2332" r:id="rId9"/>
  </p:sldIdLst>
  <p:sldSz cx="1152207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62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B75A4"/>
    <a:srgbClr val="CC8963"/>
    <a:srgbClr val="609E6E"/>
    <a:srgbClr val="B55D60"/>
    <a:srgbClr val="857AAB"/>
    <a:srgbClr val="4E8F00"/>
    <a:srgbClr val="012369"/>
    <a:srgbClr val="042742"/>
    <a:srgbClr val="032844"/>
    <a:srgbClr val="0229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251" autoAdjust="0"/>
    <p:restoredTop sz="92725" autoAdjust="0"/>
  </p:normalViewPr>
  <p:slideViewPr>
    <p:cSldViewPr>
      <p:cViewPr>
        <p:scale>
          <a:sx n="87" d="100"/>
          <a:sy n="87" d="100"/>
        </p:scale>
        <p:origin x="520" y="-656"/>
      </p:cViewPr>
      <p:guideLst>
        <p:guide orient="horz" pos="2160"/>
        <p:guide pos="3629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9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577C4A-6004-4F1F-94DD-7E5B4EA0B542}" type="datetimeFigureOut">
              <a:rPr lang="en-US" smtClean="0"/>
              <a:pPr/>
              <a:t>3/26/26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49275" y="685800"/>
            <a:ext cx="57594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A6AF6E-01F1-405C-93E2-11537298160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A6AF6E-01F1-405C-93E2-115372981601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46698-6ED3-00C3-ACD4-3C8C2622B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E50B06-BC08-CE76-F315-EAEDBF3AE9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8EE148-5912-009E-9AE0-8033508752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C97841-D3E0-859F-0A8A-FAFB523AEC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18EBD8-CB0C-434B-90EB-1461A21AE26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7313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CE266-7A7A-3C1B-13F1-0EA240F68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09F97F-D50E-1668-9588-838087DF43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1012A8-7700-30F2-F9BC-9613E5507C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BFB6E5-2BA0-DBA9-7B86-EA22CF3CD7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18EBD8-CB0C-434B-90EB-1461A21AE26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5345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58BBE-ACCA-CC04-82F5-A0E88879F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A083A6-EE69-B9F7-412C-8DCA4960C6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8B1BA2-7154-5AEC-5680-FE7C1FD2DA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EFEE16-2543-8F3F-7BA3-45283B4459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18EBD8-CB0C-434B-90EB-1461A21AE26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1195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53D54-3489-C8F3-24CA-0B83F26C1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954C2D-3C54-2443-A35B-8AC48B9CFA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E31318-A80A-1DB6-B7B4-53753BB1E0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769F5E-636C-30C6-F0C3-D882E57808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18EBD8-CB0C-434B-90EB-1461A21AE26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3588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728ACC-1EB2-CEA9-8A40-8FD468966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47F9D5-E2B4-E953-4B93-85E3A96B17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F8E6DB-2A70-CCC6-A054-C41EC6E500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4B4EFC-8B61-D220-AF1F-8DB7E1812E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18EBD8-CB0C-434B-90EB-1461A21AE26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5906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E9FFF-A53E-F00B-2060-9BFBDF888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FEA4B4-5B59-9AC4-679C-7FAE73AA3B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EAA45E-153C-B079-8DAC-8E5580ABA0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7E3DCD-FE06-2AD1-7C03-0D3C5B7F6C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18EBD8-CB0C-434B-90EB-1461A21AE26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5427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1BFDC1-08EA-B36B-B8D8-D9C5E9662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CBA08C-F56B-489E-2638-0855390DAF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56352F-B34C-6A6B-480B-D754DA1B0D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3EBDD4-9561-97F1-7AA9-5499C45C94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18EBD8-CB0C-434B-90EB-1461A21AE26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8050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4156" y="2130426"/>
            <a:ext cx="9793764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28311" y="3886200"/>
            <a:ext cx="8065453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CEE9-A26B-4F4E-A79F-7F30FF5B1B77}" type="datetimeFigureOut">
              <a:rPr lang="en-US" smtClean="0"/>
              <a:pPr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1EB09-E919-4193-8DBF-878BC53345D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629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CEE9-A26B-4F4E-A79F-7F30FF5B1B77}" type="datetimeFigureOut">
              <a:rPr lang="en-US" smtClean="0"/>
              <a:pPr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1EB09-E919-4193-8DBF-878BC53345D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0164" y="4406901"/>
            <a:ext cx="9793764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0164" y="2906713"/>
            <a:ext cx="9793764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CEE9-A26B-4F4E-A79F-7F30FF5B1B77}" type="datetimeFigureOut">
              <a:rPr lang="en-US" smtClean="0"/>
              <a:pPr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1EB09-E919-4193-8DBF-878BC53345D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26132" y="1600201"/>
            <a:ext cx="643715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55326" y="1600201"/>
            <a:ext cx="643715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CEE9-A26B-4F4E-A79F-7F30FF5B1B77}" type="datetimeFigureOut">
              <a:rPr lang="en-US" smtClean="0"/>
              <a:pPr/>
              <a:t>3/26/26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1EB09-E919-4193-8DBF-878BC53345D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6104" y="274638"/>
            <a:ext cx="10369868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6104" y="1535113"/>
            <a:ext cx="5090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6104" y="2174875"/>
            <a:ext cx="5090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53055" y="1535113"/>
            <a:ext cx="5092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53055" y="2174875"/>
            <a:ext cx="5092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CEE9-A26B-4F4E-A79F-7F30FF5B1B77}" type="datetimeFigureOut">
              <a:rPr lang="en-US" smtClean="0"/>
              <a:pPr/>
              <a:t>3/26/26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1EB09-E919-4193-8DBF-878BC53345D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CEE9-A26B-4F4E-A79F-7F30FF5B1B77}" type="datetimeFigureOut">
              <a:rPr lang="en-US" smtClean="0"/>
              <a:pPr/>
              <a:t>3/26/26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1EB09-E919-4193-8DBF-878BC53345D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CEE9-A26B-4F4E-A79F-7F30FF5B1B77}" type="datetimeFigureOut">
              <a:rPr lang="en-US" smtClean="0"/>
              <a:pPr/>
              <a:t>3/26/26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1EB09-E919-4193-8DBF-878BC53345D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6105" y="273050"/>
            <a:ext cx="37906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811" y="273051"/>
            <a:ext cx="644116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6105" y="1435101"/>
            <a:ext cx="37906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CEE9-A26B-4F4E-A79F-7F30FF5B1B77}" type="datetimeFigureOut">
              <a:rPr lang="en-US" smtClean="0"/>
              <a:pPr/>
              <a:t>3/26/26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1EB09-E919-4193-8DBF-878BC53345D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58407" y="4800600"/>
            <a:ext cx="6913245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58407" y="612775"/>
            <a:ext cx="6913245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58407" y="5367338"/>
            <a:ext cx="6913245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CEE9-A26B-4F4E-A79F-7F30FF5B1B77}" type="datetimeFigureOut">
              <a:rPr lang="en-US" smtClean="0"/>
              <a:pPr/>
              <a:t>3/26/26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1EB09-E919-4193-8DBF-878BC53345D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CEE9-A26B-4F4E-A79F-7F30FF5B1B77}" type="datetimeFigureOut">
              <a:rPr lang="en-US" smtClean="0"/>
              <a:pPr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1EB09-E919-4193-8DBF-878BC53345D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525896" y="274639"/>
            <a:ext cx="3266589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26131" y="274639"/>
            <a:ext cx="960773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CEE9-A26B-4F4E-A79F-7F30FF5B1B77}" type="datetimeFigureOut">
              <a:rPr lang="en-US" smtClean="0"/>
              <a:pPr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1EB09-E919-4193-8DBF-878BC53345D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76104" y="274638"/>
            <a:ext cx="1036986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6104" y="1600201"/>
            <a:ext cx="1036986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6104" y="6356351"/>
            <a:ext cx="268848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Helvetica" pitchFamily="2" charset="0"/>
              </a:defRPr>
            </a:lvl1pPr>
          </a:lstStyle>
          <a:p>
            <a:fld id="{A9DFCEE9-A26B-4F4E-A79F-7F30FF5B1B77}" type="datetimeFigureOut">
              <a:rPr lang="en-US" smtClean="0"/>
              <a:pPr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36709" y="6356351"/>
            <a:ext cx="36486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Helvetica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57487" y="6356351"/>
            <a:ext cx="268848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Helvetica" pitchFamily="2" charset="0"/>
              </a:defRPr>
            </a:lvl1pPr>
          </a:lstStyle>
          <a:p>
            <a:fld id="{4EB1EB09-E919-4193-8DBF-878BC53345D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Helvetica" pitchFamily="2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Helvetica" pitchFamily="2" charset="0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Helvetica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Helvetica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Helvetica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Helvetica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image" Target="../media/image2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microsoft.com/office/2007/relationships/hdphoto" Target="../media/hdphoto3.wdp"/><Relationship Id="rId5" Type="http://schemas.openxmlformats.org/officeDocument/2006/relationships/image" Target="../media/image18.png"/><Relationship Id="rId10" Type="http://schemas.microsoft.com/office/2007/relationships/hdphoto" Target="../media/hdphoto5.wdp"/><Relationship Id="rId4" Type="http://schemas.microsoft.com/office/2007/relationships/hdphoto" Target="../media/hdphoto2.wdp"/><Relationship Id="rId9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71;p19">
            <a:extLst>
              <a:ext uri="{FF2B5EF4-FFF2-40B4-BE49-F238E27FC236}">
                <a16:creationId xmlns:a16="http://schemas.microsoft.com/office/drawing/2014/main" id="{CE5FABE3-7AC2-28C3-4316-64AA33EEB725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473287" y="5085184"/>
            <a:ext cx="10575500" cy="1144716"/>
          </a:xfrm>
          <a:prstGeom prst="rect">
            <a:avLst/>
          </a:prstGeom>
        </p:spPr>
        <p:txBody>
          <a:bodyPr spcFirstLastPara="1" vert="horz" wrap="square" lIns="115202" tIns="115202" rIns="115202" bIns="115202" rtlCol="0" anchor="b" anchorCtr="0">
            <a:normAutofit/>
          </a:bodyPr>
          <a:lstStyle/>
          <a:p>
            <a:pPr algn="l">
              <a:buClr>
                <a:schemeClr val="dk1"/>
              </a:buClr>
            </a:pPr>
            <a:r>
              <a:rPr lang="en-GB" sz="2400" b="1" dirty="0">
                <a:solidFill>
                  <a:schemeClr val="accent4"/>
                </a:solidFill>
                <a:latin typeface="Helvetica" pitchFamily="2" charset="0"/>
              </a:rPr>
              <a:t>John Paul Aguinaldo</a:t>
            </a:r>
            <a:br>
              <a:rPr lang="en-GB" sz="2268" dirty="0">
                <a:solidFill>
                  <a:schemeClr val="accent3"/>
                </a:solidFill>
                <a:latin typeface="Helvetica" pitchFamily="2" charset="0"/>
              </a:rPr>
            </a:br>
            <a:r>
              <a:rPr lang="en-GB" sz="1600" dirty="0">
                <a:solidFill>
                  <a:schemeClr val="accent3"/>
                </a:solidFill>
                <a:latin typeface="Helvetica" pitchFamily="2" charset="0"/>
              </a:rPr>
              <a:t>Post-Graduate Diploma in AI and Machine Learning</a:t>
            </a:r>
            <a:br>
              <a:rPr lang="en-GB" sz="1600" dirty="0">
                <a:solidFill>
                  <a:schemeClr val="accent3"/>
                </a:solidFill>
                <a:latin typeface="Helvetica" pitchFamily="2" charset="0"/>
              </a:rPr>
            </a:br>
            <a:r>
              <a:rPr lang="en-GB" sz="1600" dirty="0">
                <a:solidFill>
                  <a:schemeClr val="accent3"/>
                </a:solidFill>
                <a:latin typeface="Helvetica" pitchFamily="2" charset="0"/>
              </a:rPr>
              <a:t>March 2026</a:t>
            </a:r>
          </a:p>
        </p:txBody>
      </p:sp>
      <p:sp>
        <p:nvSpPr>
          <p:cNvPr id="2" name="Google Shape;71;p19">
            <a:extLst>
              <a:ext uri="{FF2B5EF4-FFF2-40B4-BE49-F238E27FC236}">
                <a16:creationId xmlns:a16="http://schemas.microsoft.com/office/drawing/2014/main" id="{60B6AF63-0365-58B4-23DD-1E190E5FB1D1}"/>
              </a:ext>
            </a:extLst>
          </p:cNvPr>
          <p:cNvSpPr txBox="1">
            <a:spLocks/>
          </p:cNvSpPr>
          <p:nvPr/>
        </p:nvSpPr>
        <p:spPr>
          <a:xfrm>
            <a:off x="473288" y="1916832"/>
            <a:ext cx="10575500" cy="2578988"/>
          </a:xfrm>
          <a:prstGeom prst="rect">
            <a:avLst/>
          </a:prstGeom>
        </p:spPr>
        <p:txBody>
          <a:bodyPr spcFirstLastPara="1" vert="horz" wrap="square" lIns="115202" tIns="115202" rIns="115202" bIns="115202" rtlCol="0" anchor="b" anchorCtr="0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Helvetica" pitchFamily="2" charset="0"/>
                <a:ea typeface="+mj-ea"/>
                <a:cs typeface="+mj-cs"/>
              </a:defRPr>
            </a:lvl1pPr>
          </a:lstStyle>
          <a:p>
            <a:pPr algn="l">
              <a:buClr>
                <a:schemeClr val="dk1"/>
              </a:buClr>
            </a:pPr>
            <a:r>
              <a:rPr lang="en-GB" sz="2000" b="1" dirty="0">
                <a:solidFill>
                  <a:schemeClr val="accent4"/>
                </a:solidFill>
              </a:rPr>
              <a:t>CAPSTONE PROJECT - EXECUTIVE PRESENTATION</a:t>
            </a:r>
            <a:br>
              <a:rPr lang="en-GB" sz="2800" b="1" dirty="0">
                <a:solidFill>
                  <a:schemeClr val="accent3"/>
                </a:solidFill>
              </a:rPr>
            </a:br>
            <a:r>
              <a:rPr lang="en-GB" sz="6000" b="1" dirty="0">
                <a:solidFill>
                  <a:schemeClr val="accent3"/>
                </a:solidFill>
              </a:rPr>
              <a:t>Fraud Detection Using Machine Learning</a:t>
            </a:r>
            <a:endParaRPr lang="en-GB" sz="1600" dirty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DB85A-AD84-572B-E3CA-0ED9235BA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65DBE314-7395-7682-3C7D-24F4357CA9D0}"/>
              </a:ext>
            </a:extLst>
          </p:cNvPr>
          <p:cNvSpPr/>
          <p:nvPr/>
        </p:nvSpPr>
        <p:spPr>
          <a:xfrm>
            <a:off x="648469" y="2564904"/>
            <a:ext cx="3200400" cy="2743200"/>
          </a:xfrm>
          <a:prstGeom prst="roundRect">
            <a:avLst>
              <a:gd name="adj" fmla="val 7813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158004FB-2B06-7018-7C87-27633C1AA0D8}"/>
              </a:ext>
            </a:extLst>
          </p:cNvPr>
          <p:cNvSpPr txBox="1">
            <a:spLocks/>
          </p:cNvSpPr>
          <p:nvPr/>
        </p:nvSpPr>
        <p:spPr>
          <a:xfrm>
            <a:off x="1515900" y="2987430"/>
            <a:ext cx="2118160" cy="525276"/>
          </a:xfrm>
          <a:prstGeom prst="rect">
            <a:avLst/>
          </a:prstGeom>
        </p:spPr>
        <p:txBody>
          <a:bodyPr vert="horz" lIns="86416" tIns="43208" rIns="86416" bIns="43208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Proxima Nova Alt Rg" panose="02000506030000020004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000" b="1" dirty="0">
                <a:solidFill>
                  <a:schemeClr val="accent3"/>
                </a:solidFill>
                <a:latin typeface="Helvetica" pitchFamily="2" charset="0"/>
              </a:rPr>
              <a:t>PROBLEM CONTEXT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solidFill>
                  <a:schemeClr val="accent3"/>
                </a:solidFill>
                <a:latin typeface="Helvetica" pitchFamily="2" charset="0"/>
              </a:rPr>
              <a:t>Credit Card Fraud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844999F1-151E-F221-E54E-B8FC5E3C108E}"/>
              </a:ext>
            </a:extLst>
          </p:cNvPr>
          <p:cNvSpPr txBox="1">
            <a:spLocks/>
          </p:cNvSpPr>
          <p:nvPr/>
        </p:nvSpPr>
        <p:spPr>
          <a:xfrm>
            <a:off x="807923" y="3609873"/>
            <a:ext cx="2938105" cy="1413581"/>
          </a:xfrm>
          <a:prstGeom prst="roundRect">
            <a:avLst>
              <a:gd name="adj" fmla="val 0"/>
            </a:avLst>
          </a:prstGeom>
          <a:noFill/>
          <a:ln w="19050">
            <a:noFill/>
          </a:ln>
        </p:spPr>
        <p:txBody>
          <a:bodyPr vert="horz" lIns="86416" tIns="43208" rIns="86416" bIns="43208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Proxima Nova Alt Rg" panose="02000506030000020004" pitchFamily="2" charset="77"/>
                <a:ea typeface="+mj-ea"/>
                <a:cs typeface="+mj-cs"/>
              </a:defRPr>
            </a:lvl1pPr>
          </a:lstStyle>
          <a:p>
            <a:pPr marL="173038" indent="-173038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§"/>
            </a:pPr>
            <a:r>
              <a:rPr lang="en-US" sz="1400" dirty="0">
                <a:solidFill>
                  <a:schemeClr val="accent3"/>
                </a:solidFill>
                <a:latin typeface="Helvetica" pitchFamily="2" charset="0"/>
              </a:rPr>
              <a:t>Direct financial losses</a:t>
            </a:r>
          </a:p>
          <a:p>
            <a:pPr marL="173038" indent="-173038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§"/>
            </a:pPr>
            <a:r>
              <a:rPr lang="en-US" sz="1400" dirty="0">
                <a:solidFill>
                  <a:schemeClr val="accent3"/>
                </a:solidFill>
                <a:latin typeface="Helvetica" pitchFamily="2" charset="0"/>
              </a:rPr>
              <a:t>Manual investigation costs</a:t>
            </a:r>
          </a:p>
          <a:p>
            <a:pPr marL="173038" indent="-173038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§"/>
            </a:pPr>
            <a:r>
              <a:rPr lang="en-US" sz="1400" dirty="0">
                <a:solidFill>
                  <a:schemeClr val="accent3"/>
                </a:solidFill>
                <a:latin typeface="Helvetica" pitchFamily="2" charset="0"/>
              </a:rPr>
              <a:t>Customer friction and dissatisfaction</a:t>
            </a:r>
            <a:endParaRPr lang="en-US" sz="1000" dirty="0">
              <a:solidFill>
                <a:schemeClr val="accent3"/>
              </a:solidFill>
              <a:latin typeface="Helvetica" pitchFamily="2" charset="0"/>
            </a:endParaRPr>
          </a:p>
          <a:p>
            <a:pPr marL="173038" indent="-173038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§"/>
            </a:pPr>
            <a:r>
              <a:rPr lang="en-US" sz="1400" dirty="0">
                <a:solidFill>
                  <a:schemeClr val="accent3"/>
                </a:solidFill>
                <a:latin typeface="Helvetica" pitchFamily="2" charset="0"/>
              </a:rPr>
              <a:t>Reputational and regulatory risk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9A47B4-FBEE-AD5C-9060-CCA993B82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03" y="533480"/>
            <a:ext cx="10389071" cy="298548"/>
          </a:xfrm>
        </p:spPr>
        <p:txBody>
          <a:bodyPr>
            <a:noAutofit/>
          </a:bodyPr>
          <a:lstStyle/>
          <a:p>
            <a:pPr algn="l"/>
            <a:r>
              <a:rPr lang="en-PH" sz="1764" b="1" dirty="0">
                <a:solidFill>
                  <a:schemeClr val="accent4"/>
                </a:solidFill>
              </a:rPr>
              <a:t>BUSINESS PROBLEM</a:t>
            </a:r>
            <a:endParaRPr lang="en-US" sz="1764" b="1" dirty="0">
              <a:solidFill>
                <a:schemeClr val="accent4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F8E6A8C-FE4A-FDD3-CF70-3D6F1C4BD2AD}"/>
              </a:ext>
            </a:extLst>
          </p:cNvPr>
          <p:cNvSpPr txBox="1">
            <a:spLocks/>
          </p:cNvSpPr>
          <p:nvPr/>
        </p:nvSpPr>
        <p:spPr>
          <a:xfrm>
            <a:off x="576103" y="832028"/>
            <a:ext cx="10389071" cy="919994"/>
          </a:xfrm>
          <a:prstGeom prst="rect">
            <a:avLst/>
          </a:prstGeom>
        </p:spPr>
        <p:txBody>
          <a:bodyPr vert="horz" lIns="86416" tIns="43208" rIns="86416" bIns="43208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Proxima Nova Alt Rg" panose="02000506030000020004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400" dirty="0">
                <a:solidFill>
                  <a:schemeClr val="accent3"/>
                </a:solidFill>
                <a:latin typeface="Helvetica" pitchFamily="2" charset="0"/>
              </a:rPr>
              <a:t>Smarter fraud detection is needed to mitigate financial loss, manage operational efficiency, and improve customer experience.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4AD2C8B-B6C4-95EB-0668-A2102C493CE0}"/>
              </a:ext>
            </a:extLst>
          </p:cNvPr>
          <p:cNvCxnSpPr/>
          <p:nvPr/>
        </p:nvCxnSpPr>
        <p:spPr>
          <a:xfrm>
            <a:off x="503238" y="1772816"/>
            <a:ext cx="10515600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F64CAC98-2E26-879A-0802-16488B0E675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84380" y="2781186"/>
            <a:ext cx="731520" cy="731520"/>
          </a:xfrm>
          <a:prstGeom prst="rect">
            <a:avLst/>
          </a:prstGeom>
        </p:spPr>
      </p:pic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8FD9F9A4-0902-014A-75B6-017009B6FC44}"/>
              </a:ext>
            </a:extLst>
          </p:cNvPr>
          <p:cNvSpPr/>
          <p:nvPr/>
        </p:nvSpPr>
        <p:spPr>
          <a:xfrm>
            <a:off x="4162638" y="2564904"/>
            <a:ext cx="3200400" cy="2743200"/>
          </a:xfrm>
          <a:prstGeom prst="roundRect">
            <a:avLst>
              <a:gd name="adj" fmla="val 8334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1B8D2361-E468-70B1-1C58-7452696EB85E}"/>
              </a:ext>
            </a:extLst>
          </p:cNvPr>
          <p:cNvSpPr txBox="1">
            <a:spLocks/>
          </p:cNvSpPr>
          <p:nvPr/>
        </p:nvSpPr>
        <p:spPr>
          <a:xfrm>
            <a:off x="5028634" y="2987430"/>
            <a:ext cx="2204451" cy="525276"/>
          </a:xfrm>
          <a:prstGeom prst="rect">
            <a:avLst/>
          </a:prstGeom>
        </p:spPr>
        <p:txBody>
          <a:bodyPr vert="horz" lIns="86416" tIns="43208" rIns="86416" bIns="43208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Proxima Nova Alt Rg" panose="02000506030000020004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000" b="1" dirty="0">
                <a:solidFill>
                  <a:schemeClr val="bg1"/>
                </a:solidFill>
                <a:latin typeface="Helvetica" pitchFamily="2" charset="0"/>
              </a:rPr>
              <a:t>OPPORTUNITY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solidFill>
                  <a:schemeClr val="bg1"/>
                </a:solidFill>
                <a:latin typeface="Helvetica" pitchFamily="2" charset="0"/>
              </a:rPr>
              <a:t>Machine Learning</a:t>
            </a: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AD21E3FE-4814-9763-BABF-B80BA07A5C75}"/>
              </a:ext>
            </a:extLst>
          </p:cNvPr>
          <p:cNvSpPr txBox="1">
            <a:spLocks/>
          </p:cNvSpPr>
          <p:nvPr/>
        </p:nvSpPr>
        <p:spPr>
          <a:xfrm>
            <a:off x="4322092" y="3609874"/>
            <a:ext cx="2938105" cy="914400"/>
          </a:xfrm>
          <a:prstGeom prst="roundRect">
            <a:avLst>
              <a:gd name="adj" fmla="val 0"/>
            </a:avLst>
          </a:prstGeom>
          <a:noFill/>
          <a:ln w="19050">
            <a:noFill/>
          </a:ln>
        </p:spPr>
        <p:txBody>
          <a:bodyPr vert="horz" lIns="86416" tIns="43208" rIns="86416" bIns="43208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Proxima Nova Alt Rg" panose="02000506030000020004" pitchFamily="2" charset="77"/>
                <a:ea typeface="+mj-ea"/>
                <a:cs typeface="+mj-cs"/>
              </a:defRPr>
            </a:lvl1pPr>
          </a:lstStyle>
          <a:p>
            <a:pPr marL="173038" indent="-173038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§"/>
            </a:pPr>
            <a:r>
              <a:rPr lang="en-US" sz="1400" dirty="0">
                <a:solidFill>
                  <a:schemeClr val="bg1"/>
                </a:solidFill>
                <a:latin typeface="Helvetica" pitchFamily="2" charset="0"/>
              </a:rPr>
              <a:t>Early fraud detection</a:t>
            </a:r>
          </a:p>
          <a:p>
            <a:pPr marL="173038" indent="-173038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§"/>
            </a:pPr>
            <a:r>
              <a:rPr lang="en-US" sz="1400" dirty="0">
                <a:solidFill>
                  <a:schemeClr val="bg1"/>
                </a:solidFill>
                <a:latin typeface="Helvetica" pitchFamily="2" charset="0"/>
              </a:rPr>
              <a:t>Reduced false alarms</a:t>
            </a:r>
          </a:p>
          <a:p>
            <a:pPr marL="173038" indent="-173038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§"/>
            </a:pPr>
            <a:r>
              <a:rPr lang="en-US" sz="1400" dirty="0">
                <a:solidFill>
                  <a:schemeClr val="bg1"/>
                </a:solidFill>
                <a:latin typeface="Helvetica" pitchFamily="2" charset="0"/>
              </a:rPr>
              <a:t>Scalable decision-making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4C112B75-B2B3-D3AD-BA42-C4490E1C5218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400000"/>
                    </a14:imgEffect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97114" y="2781656"/>
            <a:ext cx="731520" cy="731520"/>
          </a:xfrm>
          <a:prstGeom prst="rect">
            <a:avLst/>
          </a:prstGeom>
        </p:spPr>
      </p:pic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2C82F202-FF81-14D8-2357-541727B3ED5A}"/>
              </a:ext>
            </a:extLst>
          </p:cNvPr>
          <p:cNvSpPr/>
          <p:nvPr/>
        </p:nvSpPr>
        <p:spPr>
          <a:xfrm>
            <a:off x="7676807" y="2564904"/>
            <a:ext cx="3200400" cy="2743200"/>
          </a:xfrm>
          <a:prstGeom prst="roundRect">
            <a:avLst>
              <a:gd name="adj" fmla="val 833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itle 1">
            <a:extLst>
              <a:ext uri="{FF2B5EF4-FFF2-40B4-BE49-F238E27FC236}">
                <a16:creationId xmlns:a16="http://schemas.microsoft.com/office/drawing/2014/main" id="{5BEF1879-3B19-9618-CB34-2E37AB745BFB}"/>
              </a:ext>
            </a:extLst>
          </p:cNvPr>
          <p:cNvSpPr txBox="1">
            <a:spLocks/>
          </p:cNvSpPr>
          <p:nvPr/>
        </p:nvSpPr>
        <p:spPr>
          <a:xfrm>
            <a:off x="8648340" y="2987430"/>
            <a:ext cx="2014058" cy="525276"/>
          </a:xfrm>
          <a:prstGeom prst="rect">
            <a:avLst/>
          </a:prstGeom>
        </p:spPr>
        <p:txBody>
          <a:bodyPr vert="horz" lIns="86416" tIns="43208" rIns="86416" bIns="43208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Proxima Nova Alt Rg" panose="02000506030000020004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000" b="1" dirty="0">
                <a:solidFill>
                  <a:schemeClr val="accent4"/>
                </a:solidFill>
                <a:latin typeface="Helvetica" pitchFamily="2" charset="0"/>
              </a:rPr>
              <a:t>SUCCESS MEASURES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solidFill>
                  <a:schemeClr val="accent4"/>
                </a:solidFill>
                <a:latin typeface="Helvetica" pitchFamily="2" charset="0"/>
              </a:rPr>
              <a:t>KPIs</a:t>
            </a:r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84A90129-B0F6-575D-D7E4-6641E44B4894}"/>
              </a:ext>
            </a:extLst>
          </p:cNvPr>
          <p:cNvSpPr txBox="1">
            <a:spLocks/>
          </p:cNvSpPr>
          <p:nvPr/>
        </p:nvSpPr>
        <p:spPr>
          <a:xfrm>
            <a:off x="7836261" y="3609873"/>
            <a:ext cx="2938105" cy="1413581"/>
          </a:xfrm>
          <a:prstGeom prst="roundRect">
            <a:avLst>
              <a:gd name="adj" fmla="val 0"/>
            </a:avLst>
          </a:prstGeom>
          <a:noFill/>
          <a:ln w="19050">
            <a:noFill/>
          </a:ln>
        </p:spPr>
        <p:txBody>
          <a:bodyPr vert="horz" lIns="86416" tIns="43208" rIns="86416" bIns="43208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Proxima Nova Alt Rg" panose="02000506030000020004" pitchFamily="2" charset="77"/>
                <a:ea typeface="+mj-ea"/>
                <a:cs typeface="+mj-cs"/>
              </a:defRPr>
            </a:lvl1pPr>
          </a:lstStyle>
          <a:p>
            <a:pPr marL="173038" indent="-173038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§"/>
            </a:pPr>
            <a:r>
              <a:rPr lang="en-US" sz="1400" dirty="0">
                <a:solidFill>
                  <a:schemeClr val="accent4"/>
                </a:solidFill>
                <a:latin typeface="Helvetica" pitchFamily="2" charset="0"/>
              </a:rPr>
              <a:t>Fraud detection rate</a:t>
            </a:r>
          </a:p>
          <a:p>
            <a:pPr marL="173038" indent="-173038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§"/>
            </a:pPr>
            <a:r>
              <a:rPr lang="en-US" sz="1400" dirty="0">
                <a:solidFill>
                  <a:schemeClr val="accent4"/>
                </a:solidFill>
                <a:latin typeface="Helvetica" pitchFamily="2" charset="0"/>
              </a:rPr>
              <a:t>False positive rate</a:t>
            </a:r>
          </a:p>
          <a:p>
            <a:pPr marL="173038" indent="-173038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§"/>
            </a:pPr>
            <a:r>
              <a:rPr lang="en-US" sz="1400" dirty="0">
                <a:solidFill>
                  <a:schemeClr val="accent4"/>
                </a:solidFill>
                <a:latin typeface="Helvetica" pitchFamily="2" charset="0"/>
              </a:rPr>
              <a:t>Operational efficiency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AB423E00-5826-7147-21D2-FAA87475ADD0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916819" y="2782748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175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52DB3-3892-2212-8E83-B39D2F241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1AB2BF21-59B7-2292-287B-71A0D892072D}"/>
              </a:ext>
            </a:extLst>
          </p:cNvPr>
          <p:cNvSpPr/>
          <p:nvPr/>
        </p:nvSpPr>
        <p:spPr>
          <a:xfrm>
            <a:off x="546276" y="3282772"/>
            <a:ext cx="3200400" cy="2834640"/>
          </a:xfrm>
          <a:prstGeom prst="roundRect">
            <a:avLst>
              <a:gd name="adj" fmla="val 3837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568D3666-D122-4F95-C665-FA69D578B9DA}"/>
              </a:ext>
            </a:extLst>
          </p:cNvPr>
          <p:cNvSpPr/>
          <p:nvPr/>
        </p:nvSpPr>
        <p:spPr>
          <a:xfrm>
            <a:off x="503238" y="2048390"/>
            <a:ext cx="10515600" cy="914400"/>
          </a:xfrm>
          <a:prstGeom prst="roundRect">
            <a:avLst>
              <a:gd name="adj" fmla="val 7576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A940EA-58A7-53B3-FB18-020200DDC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03" y="533480"/>
            <a:ext cx="10389071" cy="298548"/>
          </a:xfrm>
        </p:spPr>
        <p:txBody>
          <a:bodyPr>
            <a:noAutofit/>
          </a:bodyPr>
          <a:lstStyle/>
          <a:p>
            <a:pPr algn="l"/>
            <a:r>
              <a:rPr lang="en-PH" sz="1764" b="1" dirty="0">
                <a:solidFill>
                  <a:schemeClr val="accent4"/>
                </a:solidFill>
              </a:rPr>
              <a:t>DATA AND INSIGHTS</a:t>
            </a:r>
            <a:endParaRPr lang="en-US" sz="1764" b="1" dirty="0">
              <a:solidFill>
                <a:schemeClr val="accent4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7C2740A-D963-54C9-8955-6550FDC86595}"/>
              </a:ext>
            </a:extLst>
          </p:cNvPr>
          <p:cNvSpPr txBox="1">
            <a:spLocks/>
          </p:cNvSpPr>
          <p:nvPr/>
        </p:nvSpPr>
        <p:spPr>
          <a:xfrm>
            <a:off x="576103" y="832028"/>
            <a:ext cx="10389071" cy="919994"/>
          </a:xfrm>
          <a:prstGeom prst="rect">
            <a:avLst/>
          </a:prstGeom>
        </p:spPr>
        <p:txBody>
          <a:bodyPr vert="horz" lIns="86416" tIns="43208" rIns="86416" bIns="43208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Proxima Nova Alt Rg" panose="02000506030000020004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400" dirty="0">
                <a:solidFill>
                  <a:schemeClr val="accent3"/>
                </a:solidFill>
                <a:latin typeface="Helvetica" pitchFamily="2" charset="0"/>
              </a:rPr>
              <a:t>Credit card fraud is rare but exhibits detectable behavioral patterns.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EB49E41-23AE-A8CE-1B61-F6DAF1B8AB1A}"/>
              </a:ext>
            </a:extLst>
          </p:cNvPr>
          <p:cNvCxnSpPr/>
          <p:nvPr/>
        </p:nvCxnSpPr>
        <p:spPr>
          <a:xfrm>
            <a:off x="503238" y="1772816"/>
            <a:ext cx="10515600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4B7F6339-69D2-B42A-CD72-849C8E30ED0C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09037" y="2136499"/>
            <a:ext cx="731520" cy="731520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9F7F4E93-6115-C88D-B4BD-EF7882D2F327}"/>
              </a:ext>
            </a:extLst>
          </p:cNvPr>
          <p:cNvSpPr txBox="1">
            <a:spLocks/>
          </p:cNvSpPr>
          <p:nvPr/>
        </p:nvSpPr>
        <p:spPr>
          <a:xfrm>
            <a:off x="1524005" y="2146545"/>
            <a:ext cx="1932776" cy="731519"/>
          </a:xfrm>
          <a:prstGeom prst="rect">
            <a:avLst/>
          </a:prstGeom>
        </p:spPr>
        <p:txBody>
          <a:bodyPr vert="horz" lIns="86416" tIns="43208" rIns="86416" bIns="43208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Proxima Nova Alt Rg" panose="02000506030000020004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000" b="1" dirty="0">
                <a:solidFill>
                  <a:schemeClr val="accent3"/>
                </a:solidFill>
                <a:latin typeface="Helvetica" pitchFamily="2" charset="0"/>
              </a:rPr>
              <a:t>DATASET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solidFill>
                  <a:schemeClr val="accent3"/>
                </a:solidFill>
                <a:latin typeface="Helvetica" pitchFamily="2" charset="0"/>
              </a:rPr>
              <a:t>Credit Card Fraud Detection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E8C3AD4-6E4A-5A77-0AEB-042448511C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151" y="4140228"/>
            <a:ext cx="2862802" cy="1828800"/>
          </a:xfrm>
          <a:prstGeom prst="rect">
            <a:avLst/>
          </a:prstGeom>
          <a:ln>
            <a:noFill/>
          </a:ln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8EC3415F-02EC-B145-9725-26AA988C2E3B}"/>
              </a:ext>
            </a:extLst>
          </p:cNvPr>
          <p:cNvSpPr txBox="1">
            <a:spLocks/>
          </p:cNvSpPr>
          <p:nvPr/>
        </p:nvSpPr>
        <p:spPr>
          <a:xfrm>
            <a:off x="3888829" y="2146544"/>
            <a:ext cx="1645920" cy="731519"/>
          </a:xfrm>
          <a:prstGeom prst="roundRect">
            <a:avLst>
              <a:gd name="adj" fmla="val 10145"/>
            </a:avLst>
          </a:prstGeom>
          <a:solidFill>
            <a:schemeClr val="bg1"/>
          </a:solidFill>
        </p:spPr>
        <p:txBody>
          <a:bodyPr vert="horz" lIns="86416" tIns="43208" rIns="86416" bIns="43208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Proxima Nova Alt Rg" panose="02000506030000020004" pitchFamily="2" charset="77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chemeClr val="accent3"/>
                </a:solidFill>
                <a:latin typeface="Helvetica" pitchFamily="2" charset="0"/>
              </a:rPr>
              <a:t>~285K</a:t>
            </a:r>
          </a:p>
          <a:p>
            <a:pPr algn="ctr">
              <a:lnSpc>
                <a:spcPct val="100000"/>
              </a:lnSpc>
            </a:pPr>
            <a:r>
              <a:rPr lang="en-US" sz="1000" dirty="0">
                <a:solidFill>
                  <a:schemeClr val="accent3"/>
                </a:solidFill>
                <a:latin typeface="Helvetica" pitchFamily="2" charset="0"/>
              </a:rPr>
              <a:t>TRANSACTIONS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B42B3DCA-81DF-5000-BAA8-944A7729439B}"/>
              </a:ext>
            </a:extLst>
          </p:cNvPr>
          <p:cNvSpPr txBox="1">
            <a:spLocks/>
          </p:cNvSpPr>
          <p:nvPr/>
        </p:nvSpPr>
        <p:spPr>
          <a:xfrm>
            <a:off x="5653429" y="2146544"/>
            <a:ext cx="1645920" cy="731519"/>
          </a:xfrm>
          <a:prstGeom prst="roundRect">
            <a:avLst>
              <a:gd name="adj" fmla="val 10145"/>
            </a:avLst>
          </a:prstGeom>
          <a:solidFill>
            <a:schemeClr val="bg1"/>
          </a:solidFill>
        </p:spPr>
        <p:txBody>
          <a:bodyPr vert="horz" lIns="86416" tIns="43208" rIns="86416" bIns="43208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Proxima Nova Alt Rg" panose="02000506030000020004" pitchFamily="2" charset="77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chemeClr val="accent3"/>
                </a:solidFill>
                <a:latin typeface="Helvetica" pitchFamily="2" charset="0"/>
              </a:rPr>
              <a:t>0.17%</a:t>
            </a:r>
          </a:p>
          <a:p>
            <a:pPr algn="ctr">
              <a:lnSpc>
                <a:spcPct val="100000"/>
              </a:lnSpc>
            </a:pPr>
            <a:r>
              <a:rPr lang="en-US" sz="1000" dirty="0">
                <a:solidFill>
                  <a:schemeClr val="accent3"/>
                </a:solidFill>
                <a:latin typeface="Helvetica" pitchFamily="2" charset="0"/>
              </a:rPr>
              <a:t>FRAUD RATE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1441A75C-6B0E-71D0-E033-6A49DF9CAA40}"/>
              </a:ext>
            </a:extLst>
          </p:cNvPr>
          <p:cNvSpPr txBox="1">
            <a:spLocks/>
          </p:cNvSpPr>
          <p:nvPr/>
        </p:nvSpPr>
        <p:spPr>
          <a:xfrm>
            <a:off x="7418029" y="2146544"/>
            <a:ext cx="1645920" cy="731519"/>
          </a:xfrm>
          <a:prstGeom prst="roundRect">
            <a:avLst>
              <a:gd name="adj" fmla="val 10145"/>
            </a:avLst>
          </a:prstGeom>
          <a:solidFill>
            <a:schemeClr val="bg1"/>
          </a:solidFill>
        </p:spPr>
        <p:txBody>
          <a:bodyPr vert="horz" lIns="86416" tIns="43208" rIns="86416" bIns="43208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Proxima Nova Alt Rg" panose="02000506030000020004" pitchFamily="2" charset="77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chemeClr val="accent3"/>
                </a:solidFill>
                <a:latin typeface="Helvetica" pitchFamily="2" charset="0"/>
              </a:rPr>
              <a:t>0</a:t>
            </a:r>
          </a:p>
          <a:p>
            <a:pPr algn="ctr">
              <a:lnSpc>
                <a:spcPct val="100000"/>
              </a:lnSpc>
            </a:pPr>
            <a:r>
              <a:rPr lang="en-US" sz="1000" dirty="0">
                <a:solidFill>
                  <a:schemeClr val="accent3"/>
                </a:solidFill>
                <a:latin typeface="Helvetica" pitchFamily="2" charset="0"/>
              </a:rPr>
              <a:t>MISSING DATA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116F45B9-0945-5151-65D3-8F72BF03A7D1}"/>
              </a:ext>
            </a:extLst>
          </p:cNvPr>
          <p:cNvSpPr txBox="1">
            <a:spLocks/>
          </p:cNvSpPr>
          <p:nvPr/>
        </p:nvSpPr>
        <p:spPr>
          <a:xfrm>
            <a:off x="9182629" y="2147022"/>
            <a:ext cx="1645920" cy="731519"/>
          </a:xfrm>
          <a:prstGeom prst="roundRect">
            <a:avLst>
              <a:gd name="adj" fmla="val 10145"/>
            </a:avLst>
          </a:prstGeom>
          <a:solidFill>
            <a:schemeClr val="bg1"/>
          </a:solidFill>
        </p:spPr>
        <p:txBody>
          <a:bodyPr vert="horz" lIns="86416" tIns="43208" rIns="86416" bIns="43208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Proxima Nova Alt Rg" panose="02000506030000020004" pitchFamily="2" charset="77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chemeClr val="accent3"/>
                </a:solidFill>
                <a:latin typeface="Helvetica" pitchFamily="2" charset="0"/>
              </a:rPr>
              <a:t>1,081</a:t>
            </a:r>
          </a:p>
          <a:p>
            <a:pPr algn="ctr">
              <a:lnSpc>
                <a:spcPct val="100000"/>
              </a:lnSpc>
            </a:pPr>
            <a:r>
              <a:rPr lang="en-US" sz="800" dirty="0">
                <a:solidFill>
                  <a:schemeClr val="accent3"/>
                </a:solidFill>
                <a:latin typeface="Helvetica" pitchFamily="2" charset="0"/>
              </a:rPr>
              <a:t>DUPLICATE TRANSACTIONS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4FCDF32B-C8AC-2273-9AE7-CD3B190C2E9D}"/>
              </a:ext>
            </a:extLst>
          </p:cNvPr>
          <p:cNvSpPr txBox="1">
            <a:spLocks/>
          </p:cNvSpPr>
          <p:nvPr/>
        </p:nvSpPr>
        <p:spPr>
          <a:xfrm>
            <a:off x="1192311" y="3481422"/>
            <a:ext cx="2433809" cy="486696"/>
          </a:xfrm>
          <a:prstGeom prst="roundRect">
            <a:avLst>
              <a:gd name="adj" fmla="val 0"/>
            </a:avLst>
          </a:prstGeom>
          <a:noFill/>
          <a:ln w="19050">
            <a:noFill/>
          </a:ln>
        </p:spPr>
        <p:txBody>
          <a:bodyPr vert="horz" lIns="86416" tIns="43208" rIns="86416" bIns="43208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Proxima Nova Alt Rg" panose="02000506030000020004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1400" dirty="0">
                <a:solidFill>
                  <a:schemeClr val="accent4"/>
                </a:solidFill>
                <a:latin typeface="Helvetica" pitchFamily="2" charset="0"/>
              </a:rPr>
              <a:t>Fraud is </a:t>
            </a:r>
            <a:r>
              <a:rPr lang="en-US" sz="1400" b="1" dirty="0">
                <a:solidFill>
                  <a:schemeClr val="accent4"/>
                </a:solidFill>
                <a:latin typeface="Helvetica" pitchFamily="2" charset="0"/>
              </a:rPr>
              <a:t>highly imbalanced </a:t>
            </a:r>
            <a:r>
              <a:rPr lang="en-US" sz="1400" dirty="0">
                <a:solidFill>
                  <a:schemeClr val="accent4"/>
                </a:solidFill>
                <a:latin typeface="Helvetica" pitchFamily="2" charset="0"/>
              </a:rPr>
              <a:t>and </a:t>
            </a:r>
            <a:r>
              <a:rPr lang="en-US" sz="1400" b="1" dirty="0">
                <a:solidFill>
                  <a:schemeClr val="accent4"/>
                </a:solidFill>
                <a:latin typeface="Helvetica" pitchFamily="2" charset="0"/>
              </a:rPr>
              <a:t>difficult to detect.</a:t>
            </a:r>
            <a:endParaRPr lang="en-US" sz="1400" dirty="0">
              <a:solidFill>
                <a:schemeClr val="accent4"/>
              </a:solidFill>
              <a:latin typeface="Helvetica" pitchFamily="2" charset="0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E8FCA78B-F96B-CC82-3AF5-A2F7F6AEB997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75893" y="3437180"/>
            <a:ext cx="548640" cy="548640"/>
          </a:xfrm>
          <a:prstGeom prst="rect">
            <a:avLst/>
          </a:prstGeom>
        </p:spPr>
      </p:pic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94415519-E6D0-2364-A8A2-24B8ABBBD0E2}"/>
              </a:ext>
            </a:extLst>
          </p:cNvPr>
          <p:cNvSpPr/>
          <p:nvPr/>
        </p:nvSpPr>
        <p:spPr>
          <a:xfrm>
            <a:off x="4176861" y="3282772"/>
            <a:ext cx="3200400" cy="2834640"/>
          </a:xfrm>
          <a:prstGeom prst="roundRect">
            <a:avLst>
              <a:gd name="adj" fmla="val 3837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8E062631-03E9-55BC-F2FC-F41943EB0105}"/>
              </a:ext>
            </a:extLst>
          </p:cNvPr>
          <p:cNvSpPr txBox="1">
            <a:spLocks/>
          </p:cNvSpPr>
          <p:nvPr/>
        </p:nvSpPr>
        <p:spPr>
          <a:xfrm>
            <a:off x="4887191" y="3481422"/>
            <a:ext cx="2369514" cy="486696"/>
          </a:xfrm>
          <a:prstGeom prst="roundRect">
            <a:avLst>
              <a:gd name="adj" fmla="val 0"/>
            </a:avLst>
          </a:prstGeom>
          <a:noFill/>
          <a:ln w="19050">
            <a:noFill/>
          </a:ln>
        </p:spPr>
        <p:txBody>
          <a:bodyPr vert="horz" lIns="86416" tIns="43208" rIns="86416" bIns="43208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Proxima Nova Alt Rg" panose="02000506030000020004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1400" dirty="0">
                <a:solidFill>
                  <a:schemeClr val="accent4"/>
                </a:solidFill>
                <a:latin typeface="Helvetica" pitchFamily="2" charset="0"/>
              </a:rPr>
              <a:t>Fraud risk is higher </a:t>
            </a:r>
            <a:r>
              <a:rPr lang="en-US" sz="1400" b="1" dirty="0">
                <a:solidFill>
                  <a:schemeClr val="accent4"/>
                </a:solidFill>
                <a:latin typeface="Helvetica" pitchFamily="2" charset="0"/>
              </a:rPr>
              <a:t>at night (12:00 a.m. to 5:00 a.m.).</a:t>
            </a:r>
            <a:endParaRPr lang="en-US" sz="1400" dirty="0">
              <a:solidFill>
                <a:schemeClr val="accent4"/>
              </a:solidFill>
              <a:latin typeface="Helvetica" pitchFamily="2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84831FF-2C7E-C740-324D-62CEAAAE602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9270" y="4140228"/>
            <a:ext cx="2843534" cy="1828800"/>
          </a:xfrm>
          <a:prstGeom prst="rect">
            <a:avLst/>
          </a:prstGeom>
          <a:ln>
            <a:noFill/>
          </a:ln>
        </p:spPr>
      </p:pic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D2BCA78A-0F35-BFAC-2082-8862B5365B3D}"/>
              </a:ext>
            </a:extLst>
          </p:cNvPr>
          <p:cNvSpPr/>
          <p:nvPr/>
        </p:nvSpPr>
        <p:spPr>
          <a:xfrm>
            <a:off x="7807446" y="3282773"/>
            <a:ext cx="3200400" cy="2834640"/>
          </a:xfrm>
          <a:prstGeom prst="roundRect">
            <a:avLst>
              <a:gd name="adj" fmla="val 4570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83175B4E-A647-3265-A344-EAE0AA12AD42}"/>
              </a:ext>
            </a:extLst>
          </p:cNvPr>
          <p:cNvSpPr txBox="1">
            <a:spLocks/>
          </p:cNvSpPr>
          <p:nvPr/>
        </p:nvSpPr>
        <p:spPr>
          <a:xfrm>
            <a:off x="8534743" y="3492491"/>
            <a:ext cx="2352547" cy="486696"/>
          </a:xfrm>
          <a:prstGeom prst="roundRect">
            <a:avLst>
              <a:gd name="adj" fmla="val 0"/>
            </a:avLst>
          </a:prstGeom>
          <a:noFill/>
          <a:ln w="19050">
            <a:noFill/>
          </a:ln>
        </p:spPr>
        <p:txBody>
          <a:bodyPr vert="horz" lIns="86416" tIns="43208" rIns="86416" bIns="43208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Proxima Nova Alt Rg" panose="02000506030000020004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1400" dirty="0">
                <a:solidFill>
                  <a:schemeClr val="accent4"/>
                </a:solidFill>
                <a:latin typeface="Helvetica" pitchFamily="2" charset="0"/>
              </a:rPr>
              <a:t>Fraud occurs </a:t>
            </a:r>
            <a:r>
              <a:rPr lang="en-US" sz="1400" b="1" dirty="0">
                <a:solidFill>
                  <a:schemeClr val="accent4"/>
                </a:solidFill>
                <a:latin typeface="Helvetica" pitchFamily="2" charset="0"/>
              </a:rPr>
              <a:t>across transaction sizes</a:t>
            </a:r>
            <a:r>
              <a:rPr lang="en-US" sz="1400" dirty="0">
                <a:solidFill>
                  <a:schemeClr val="accent4"/>
                </a:solidFill>
                <a:latin typeface="Helvetica" pitchFamily="2" charset="0"/>
              </a:rPr>
              <a:t>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5F37580-74F8-44F3-861D-BE5DA9EBF2C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6103" y="4140228"/>
            <a:ext cx="2850778" cy="1828800"/>
          </a:xfrm>
          <a:prstGeom prst="rect">
            <a:avLst/>
          </a:prstGeom>
          <a:ln>
            <a:noFill/>
          </a:ln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801C6138-4086-516A-7B01-DF8BDB1F9955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338551" y="3481422"/>
            <a:ext cx="548640" cy="54864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BE278946-7FEE-867F-A36F-3A517633B4E4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986103" y="3481151"/>
            <a:ext cx="548640" cy="54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1585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4BF48-D477-3A4B-A597-BD1651C20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57AAE0A9-2E6C-09C7-1376-C0BAE296B0F7}"/>
              </a:ext>
            </a:extLst>
          </p:cNvPr>
          <p:cNvSpPr/>
          <p:nvPr/>
        </p:nvSpPr>
        <p:spPr>
          <a:xfrm>
            <a:off x="503238" y="3238363"/>
            <a:ext cx="10332720" cy="1371600"/>
          </a:xfrm>
          <a:prstGeom prst="roundRect">
            <a:avLst>
              <a:gd name="adj" fmla="val 7576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8CE335BA-FB7B-291A-4774-847D441E761A}"/>
              </a:ext>
            </a:extLst>
          </p:cNvPr>
          <p:cNvSpPr/>
          <p:nvPr/>
        </p:nvSpPr>
        <p:spPr>
          <a:xfrm>
            <a:off x="503238" y="2048390"/>
            <a:ext cx="10292640" cy="914400"/>
          </a:xfrm>
          <a:prstGeom prst="roundRect">
            <a:avLst>
              <a:gd name="adj" fmla="val 7576"/>
            </a:avLst>
          </a:prstGeom>
          <a:solidFill>
            <a:schemeClr val="accent6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A81EB2-4AB5-BA1A-61E7-389F32B2B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03" y="533480"/>
            <a:ext cx="10389071" cy="298548"/>
          </a:xfrm>
        </p:spPr>
        <p:txBody>
          <a:bodyPr>
            <a:noAutofit/>
          </a:bodyPr>
          <a:lstStyle/>
          <a:p>
            <a:pPr algn="l"/>
            <a:r>
              <a:rPr lang="en-PH" sz="1764" b="1" dirty="0">
                <a:solidFill>
                  <a:schemeClr val="accent4"/>
                </a:solidFill>
              </a:rPr>
              <a:t>MACHINE LEARNING SOLUTION</a:t>
            </a:r>
            <a:endParaRPr lang="en-US" sz="1764" b="1" dirty="0">
              <a:solidFill>
                <a:schemeClr val="accent4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B92B3BA-7CB0-35D5-F135-8498AC921CAD}"/>
              </a:ext>
            </a:extLst>
          </p:cNvPr>
          <p:cNvSpPr txBox="1">
            <a:spLocks/>
          </p:cNvSpPr>
          <p:nvPr/>
        </p:nvSpPr>
        <p:spPr>
          <a:xfrm>
            <a:off x="576103" y="832028"/>
            <a:ext cx="10389071" cy="919994"/>
          </a:xfrm>
          <a:prstGeom prst="rect">
            <a:avLst/>
          </a:prstGeom>
        </p:spPr>
        <p:txBody>
          <a:bodyPr vert="horz" lIns="86416" tIns="43208" rIns="86416" bIns="43208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Proxima Nova Alt Rg" panose="02000506030000020004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400" dirty="0">
                <a:solidFill>
                  <a:schemeClr val="accent3"/>
                </a:solidFill>
                <a:latin typeface="Helvetica" pitchFamily="2" charset="0"/>
              </a:rPr>
              <a:t>A structured machine learning (ML) approach was used to identify high-risk transactions and improve fraud detection accuracy.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B78E2BD-2AE0-6C1B-0461-1A9E56308905}"/>
              </a:ext>
            </a:extLst>
          </p:cNvPr>
          <p:cNvCxnSpPr/>
          <p:nvPr/>
        </p:nvCxnSpPr>
        <p:spPr>
          <a:xfrm>
            <a:off x="503238" y="1772816"/>
            <a:ext cx="10515600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3E6DB37B-BBE6-6DCE-83F9-1417C6B35C0F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26197" y="2130713"/>
            <a:ext cx="731520" cy="731520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17D3611A-EE96-32E9-EE6A-7AC0F40B1EE4}"/>
              </a:ext>
            </a:extLst>
          </p:cNvPr>
          <p:cNvSpPr txBox="1">
            <a:spLocks/>
          </p:cNvSpPr>
          <p:nvPr/>
        </p:nvSpPr>
        <p:spPr>
          <a:xfrm>
            <a:off x="1524005" y="2146545"/>
            <a:ext cx="1932776" cy="731519"/>
          </a:xfrm>
          <a:prstGeom prst="rect">
            <a:avLst/>
          </a:prstGeom>
        </p:spPr>
        <p:txBody>
          <a:bodyPr vert="horz" lIns="86416" tIns="43208" rIns="86416" bIns="43208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Proxima Nova Alt Rg" panose="02000506030000020004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Helvetica" pitchFamily="2" charset="0"/>
              </a:rPr>
              <a:t>Solution Design Principles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7F74FFF5-44FC-FA9C-D3D8-F9D3AA5291BB}"/>
              </a:ext>
            </a:extLst>
          </p:cNvPr>
          <p:cNvSpPr txBox="1">
            <a:spLocks/>
          </p:cNvSpPr>
          <p:nvPr/>
        </p:nvSpPr>
        <p:spPr>
          <a:xfrm>
            <a:off x="3523068" y="2200641"/>
            <a:ext cx="3600639" cy="640080"/>
          </a:xfrm>
          <a:prstGeom prst="roundRect">
            <a:avLst>
              <a:gd name="adj" fmla="val 10145"/>
            </a:avLst>
          </a:prstGeom>
          <a:solidFill>
            <a:schemeClr val="bg1"/>
          </a:solidFill>
        </p:spPr>
        <p:txBody>
          <a:bodyPr vert="horz" lIns="86416" tIns="43208" rIns="86416" bIns="43208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Proxima Nova Alt Rg" panose="02000506030000020004" pitchFamily="2" charset="77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chemeClr val="accent3"/>
                </a:solidFill>
                <a:latin typeface="Helvetica" pitchFamily="2" charset="0"/>
              </a:rPr>
              <a:t>Prioritize </a:t>
            </a:r>
            <a:r>
              <a:rPr lang="en-US" sz="1400" b="1" dirty="0">
                <a:solidFill>
                  <a:schemeClr val="accent3"/>
                </a:solidFill>
                <a:latin typeface="Helvetica" pitchFamily="2" charset="0"/>
              </a:rPr>
              <a:t>fraud detection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9E108EBB-031D-6628-3DB6-0C2393E83B7E}"/>
              </a:ext>
            </a:extLst>
          </p:cNvPr>
          <p:cNvSpPr txBox="1">
            <a:spLocks/>
          </p:cNvSpPr>
          <p:nvPr/>
        </p:nvSpPr>
        <p:spPr>
          <a:xfrm>
            <a:off x="7309797" y="2200641"/>
            <a:ext cx="3299992" cy="640080"/>
          </a:xfrm>
          <a:prstGeom prst="roundRect">
            <a:avLst>
              <a:gd name="adj" fmla="val 10145"/>
            </a:avLst>
          </a:prstGeom>
          <a:solidFill>
            <a:schemeClr val="bg1"/>
          </a:solidFill>
        </p:spPr>
        <p:txBody>
          <a:bodyPr vert="horz" lIns="86416" tIns="43208" rIns="86416" bIns="43208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Proxima Nova Alt Rg" panose="02000506030000020004" pitchFamily="2" charset="77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chemeClr val="accent3"/>
                </a:solidFill>
                <a:latin typeface="Helvetica" pitchFamily="2" charset="0"/>
              </a:rPr>
              <a:t>Balance with </a:t>
            </a:r>
            <a:r>
              <a:rPr lang="en-US" sz="1400" b="1" dirty="0">
                <a:solidFill>
                  <a:schemeClr val="accent3"/>
                </a:solidFill>
                <a:latin typeface="Helvetica" pitchFamily="2" charset="0"/>
              </a:rPr>
              <a:t>operational efficiency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E0BFC23B-C784-08CB-4C9C-7B9EBD7AE76D}"/>
              </a:ext>
            </a:extLst>
          </p:cNvPr>
          <p:cNvSpPr txBox="1">
            <a:spLocks/>
          </p:cNvSpPr>
          <p:nvPr/>
        </p:nvSpPr>
        <p:spPr>
          <a:xfrm>
            <a:off x="3528789" y="3441698"/>
            <a:ext cx="1371600" cy="1032142"/>
          </a:xfrm>
          <a:prstGeom prst="roundRect">
            <a:avLst>
              <a:gd name="adj" fmla="val 10145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vert="horz" lIns="86416" tIns="43208" rIns="86416" bIns="43208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Proxima Nova Alt Rg" panose="02000506030000020004" pitchFamily="2" charset="77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1000" b="1" dirty="0">
                <a:solidFill>
                  <a:schemeClr val="accent3"/>
                </a:solidFill>
                <a:latin typeface="Helvetica" pitchFamily="2" charset="0"/>
              </a:rPr>
              <a:t>INPUT</a:t>
            </a:r>
          </a:p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chemeClr val="accent3"/>
                </a:solidFill>
                <a:latin typeface="Helvetica" pitchFamily="2" charset="0"/>
              </a:rPr>
              <a:t>Historical data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FEA2FDE4-860F-CE18-A02C-D5D1757D8013}"/>
              </a:ext>
            </a:extLst>
          </p:cNvPr>
          <p:cNvSpPr txBox="1">
            <a:spLocks/>
          </p:cNvSpPr>
          <p:nvPr/>
        </p:nvSpPr>
        <p:spPr>
          <a:xfrm>
            <a:off x="5256981" y="3455302"/>
            <a:ext cx="2849489" cy="1005840"/>
          </a:xfrm>
          <a:prstGeom prst="roundRect">
            <a:avLst>
              <a:gd name="adj" fmla="val 10145"/>
            </a:avLst>
          </a:prstGeom>
          <a:solidFill>
            <a:schemeClr val="bg1"/>
          </a:solidFill>
          <a:ln>
            <a:solidFill>
              <a:schemeClr val="accent4"/>
            </a:solidFill>
          </a:ln>
        </p:spPr>
        <p:txBody>
          <a:bodyPr vert="horz" lIns="86416" tIns="43208" rIns="86416" bIns="43208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Proxima Nova Alt Rg" panose="02000506030000020004" pitchFamily="2" charset="77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1000" b="1" dirty="0">
                <a:solidFill>
                  <a:schemeClr val="accent3"/>
                </a:solidFill>
                <a:latin typeface="Helvetica" pitchFamily="2" charset="0"/>
              </a:rPr>
              <a:t>PROCESS</a:t>
            </a:r>
          </a:p>
          <a:p>
            <a:pPr>
              <a:lnSpc>
                <a:spcPct val="100000"/>
              </a:lnSpc>
            </a:pPr>
            <a:r>
              <a:rPr lang="en-US" sz="1400" dirty="0">
                <a:solidFill>
                  <a:schemeClr val="accent3"/>
                </a:solidFill>
                <a:latin typeface="Helvetica" pitchFamily="2" charset="0"/>
              </a:rPr>
              <a:t>Learn fraud behavior based on:</a:t>
            </a:r>
          </a:p>
          <a:p>
            <a:pPr marL="171450" indent="-171450">
              <a:lnSpc>
                <a:spcPct val="100000"/>
              </a:lnSpc>
              <a:buFont typeface="Wingdings" pitchFamily="2" charset="2"/>
              <a:buChar char="§"/>
            </a:pPr>
            <a:r>
              <a:rPr lang="en-US" sz="1000" dirty="0">
                <a:solidFill>
                  <a:schemeClr val="accent3"/>
                </a:solidFill>
                <a:latin typeface="Helvetica" pitchFamily="2" charset="0"/>
              </a:rPr>
              <a:t>Timing of transactions</a:t>
            </a:r>
          </a:p>
          <a:p>
            <a:pPr marL="171450" indent="-171450">
              <a:lnSpc>
                <a:spcPct val="100000"/>
              </a:lnSpc>
              <a:buFont typeface="Wingdings" pitchFamily="2" charset="2"/>
              <a:buChar char="§"/>
            </a:pPr>
            <a:r>
              <a:rPr lang="en-US" sz="1000" dirty="0">
                <a:solidFill>
                  <a:schemeClr val="accent3"/>
                </a:solidFill>
                <a:latin typeface="Helvetica" pitchFamily="2" charset="0"/>
              </a:rPr>
              <a:t>Transaction characteristics</a:t>
            </a:r>
          </a:p>
          <a:p>
            <a:pPr marL="171450" indent="-171450">
              <a:lnSpc>
                <a:spcPct val="100000"/>
              </a:lnSpc>
              <a:buFont typeface="Wingdings" pitchFamily="2" charset="2"/>
              <a:buChar char="§"/>
            </a:pPr>
            <a:r>
              <a:rPr lang="en-US" sz="1000" dirty="0">
                <a:solidFill>
                  <a:schemeClr val="accent3"/>
                </a:solidFill>
                <a:latin typeface="Helvetica" pitchFamily="2" charset="0"/>
              </a:rPr>
              <a:t>Hidden patterns in the data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E60B6F28-3210-42D9-9BA6-E7A7C916D394}"/>
              </a:ext>
            </a:extLst>
          </p:cNvPr>
          <p:cNvSpPr txBox="1">
            <a:spLocks/>
          </p:cNvSpPr>
          <p:nvPr/>
        </p:nvSpPr>
        <p:spPr>
          <a:xfrm>
            <a:off x="8432529" y="3454849"/>
            <a:ext cx="2185950" cy="1005840"/>
          </a:xfrm>
          <a:prstGeom prst="roundRect">
            <a:avLst>
              <a:gd name="adj" fmla="val 10145"/>
            </a:avLst>
          </a:prstGeom>
          <a:solidFill>
            <a:schemeClr val="bg1"/>
          </a:solidFill>
          <a:ln>
            <a:solidFill>
              <a:schemeClr val="accent4"/>
            </a:solidFill>
          </a:ln>
        </p:spPr>
        <p:txBody>
          <a:bodyPr vert="horz" lIns="86416" tIns="43208" rIns="86416" bIns="43208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Proxima Nova Alt Rg" panose="02000506030000020004" pitchFamily="2" charset="77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1000" b="1" dirty="0">
                <a:solidFill>
                  <a:schemeClr val="accent3"/>
                </a:solidFill>
                <a:latin typeface="Helvetica" pitchFamily="2" charset="0"/>
              </a:rPr>
              <a:t>OUTPUT</a:t>
            </a:r>
          </a:p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chemeClr val="accent3"/>
                </a:solidFill>
                <a:latin typeface="Helvetica" pitchFamily="2" charset="0"/>
              </a:rPr>
              <a:t>Fraud or Legitimate?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DE766087-ED9D-C9DA-283D-3D72F118429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26197" y="3576802"/>
            <a:ext cx="731520" cy="731520"/>
          </a:xfrm>
          <a:prstGeom prst="rect">
            <a:avLst/>
          </a:prstGeom>
        </p:spPr>
      </p:pic>
      <p:sp>
        <p:nvSpPr>
          <p:cNvPr id="26" name="Title 1">
            <a:extLst>
              <a:ext uri="{FF2B5EF4-FFF2-40B4-BE49-F238E27FC236}">
                <a16:creationId xmlns:a16="http://schemas.microsoft.com/office/drawing/2014/main" id="{26584C0B-D17B-8ABB-02CE-BABEC4F3B314}"/>
              </a:ext>
            </a:extLst>
          </p:cNvPr>
          <p:cNvSpPr txBox="1">
            <a:spLocks/>
          </p:cNvSpPr>
          <p:nvPr/>
        </p:nvSpPr>
        <p:spPr>
          <a:xfrm>
            <a:off x="1524004" y="3629512"/>
            <a:ext cx="2131639" cy="731519"/>
          </a:xfrm>
          <a:prstGeom prst="rect">
            <a:avLst/>
          </a:prstGeom>
        </p:spPr>
        <p:txBody>
          <a:bodyPr vert="horz" lIns="86416" tIns="43208" rIns="86416" bIns="43208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Proxima Nova Alt Rg" panose="02000506030000020004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000" b="1" dirty="0">
                <a:solidFill>
                  <a:schemeClr val="accent4"/>
                </a:solidFill>
                <a:latin typeface="Helvetica" pitchFamily="2" charset="0"/>
              </a:rPr>
              <a:t>HOW IT WORKS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solidFill>
                  <a:schemeClr val="accent4"/>
                </a:solidFill>
                <a:latin typeface="Helvetica" pitchFamily="2" charset="0"/>
              </a:rPr>
              <a:t>Machine Learning</a:t>
            </a:r>
          </a:p>
        </p:txBody>
      </p: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B107A9BD-5FC0-A359-C4BA-3362909FB25D}"/>
              </a:ext>
            </a:extLst>
          </p:cNvPr>
          <p:cNvCxnSpPr>
            <a:stCxn id="20" idx="3"/>
            <a:endCxn id="21" idx="1"/>
          </p:cNvCxnSpPr>
          <p:nvPr/>
        </p:nvCxnSpPr>
        <p:spPr>
          <a:xfrm>
            <a:off x="4900389" y="3957769"/>
            <a:ext cx="356592" cy="453"/>
          </a:xfrm>
          <a:prstGeom prst="bentConnector3">
            <a:avLst/>
          </a:prstGeom>
          <a:ln w="2857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73CEC9AC-CE7F-B34C-B7DB-FBF1DD75B4E0}"/>
              </a:ext>
            </a:extLst>
          </p:cNvPr>
          <p:cNvCxnSpPr>
            <a:cxnSpLocks/>
            <a:stCxn id="21" idx="3"/>
            <a:endCxn id="22" idx="1"/>
          </p:cNvCxnSpPr>
          <p:nvPr/>
        </p:nvCxnSpPr>
        <p:spPr>
          <a:xfrm flipV="1">
            <a:off x="8106470" y="3957769"/>
            <a:ext cx="326059" cy="453"/>
          </a:xfrm>
          <a:prstGeom prst="bentConnector3">
            <a:avLst/>
          </a:prstGeom>
          <a:ln w="2857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30230F5A-BA84-A24F-84E6-AD800FB1A922}"/>
              </a:ext>
            </a:extLst>
          </p:cNvPr>
          <p:cNvSpPr/>
          <p:nvPr/>
        </p:nvSpPr>
        <p:spPr>
          <a:xfrm>
            <a:off x="503238" y="4799128"/>
            <a:ext cx="10332720" cy="1371600"/>
          </a:xfrm>
          <a:prstGeom prst="roundRect">
            <a:avLst>
              <a:gd name="adj" fmla="val 7576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3581AE6D-C19A-8620-B48C-C73C2BD8F561}"/>
              </a:ext>
            </a:extLst>
          </p:cNvPr>
          <p:cNvSpPr txBox="1">
            <a:spLocks/>
          </p:cNvSpPr>
          <p:nvPr/>
        </p:nvSpPr>
        <p:spPr>
          <a:xfrm>
            <a:off x="3528789" y="5002463"/>
            <a:ext cx="2286000" cy="1032142"/>
          </a:xfrm>
          <a:prstGeom prst="roundRect">
            <a:avLst>
              <a:gd name="adj" fmla="val 10145"/>
            </a:avLst>
          </a:prstGeom>
          <a:solidFill>
            <a:schemeClr val="bg1"/>
          </a:solidFill>
          <a:ln w="6350">
            <a:solidFill>
              <a:schemeClr val="accent5">
                <a:lumMod val="50000"/>
              </a:schemeClr>
            </a:solidFill>
          </a:ln>
        </p:spPr>
        <p:txBody>
          <a:bodyPr vert="horz" lIns="86416" tIns="43208" rIns="86416" bIns="43208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Proxima Nova Alt Rg" panose="02000506030000020004" pitchFamily="2" charset="77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1000" b="1" dirty="0">
                <a:solidFill>
                  <a:schemeClr val="accent3"/>
                </a:solidFill>
                <a:latin typeface="Helvetica" pitchFamily="2" charset="0"/>
              </a:rPr>
              <a:t>PREPARATION</a:t>
            </a:r>
          </a:p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chemeClr val="accent3"/>
                </a:solidFill>
                <a:latin typeface="Helvetica" pitchFamily="2" charset="0"/>
              </a:rPr>
              <a:t>Cleaning and preparation of transaction data</a:t>
            </a:r>
          </a:p>
        </p:txBody>
      </p:sp>
      <p:sp>
        <p:nvSpPr>
          <p:cNvPr id="39" name="Title 1">
            <a:extLst>
              <a:ext uri="{FF2B5EF4-FFF2-40B4-BE49-F238E27FC236}">
                <a16:creationId xmlns:a16="http://schemas.microsoft.com/office/drawing/2014/main" id="{1845922D-BBE1-0387-22C6-5AFBBA0CECE4}"/>
              </a:ext>
            </a:extLst>
          </p:cNvPr>
          <p:cNvSpPr txBox="1">
            <a:spLocks/>
          </p:cNvSpPr>
          <p:nvPr/>
        </p:nvSpPr>
        <p:spPr>
          <a:xfrm>
            <a:off x="6049069" y="5016067"/>
            <a:ext cx="2011680" cy="1005840"/>
          </a:xfrm>
          <a:prstGeom prst="roundRect">
            <a:avLst>
              <a:gd name="adj" fmla="val 10145"/>
            </a:avLst>
          </a:prstGeom>
          <a:solidFill>
            <a:schemeClr val="bg1"/>
          </a:solidFill>
          <a:ln>
            <a:solidFill>
              <a:schemeClr val="accent5">
                <a:lumMod val="50000"/>
              </a:schemeClr>
            </a:solidFill>
          </a:ln>
        </p:spPr>
        <p:txBody>
          <a:bodyPr vert="horz" lIns="86416" tIns="43208" rIns="86416" bIns="43208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Proxima Nova Alt Rg" panose="02000506030000020004" pitchFamily="2" charset="77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1000" b="1" dirty="0">
                <a:solidFill>
                  <a:schemeClr val="accent3"/>
                </a:solidFill>
                <a:latin typeface="Helvetica" pitchFamily="2" charset="0"/>
              </a:rPr>
              <a:t>IMPLEMENTATION</a:t>
            </a:r>
          </a:p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chemeClr val="accent3"/>
                </a:solidFill>
                <a:latin typeface="Helvetica" pitchFamily="2" charset="0"/>
              </a:rPr>
              <a:t>Tested multiple analytical approaches</a:t>
            </a:r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30FCD08B-5BC4-EE2B-CCAD-B18316CD3817}"/>
              </a:ext>
            </a:extLst>
          </p:cNvPr>
          <p:cNvSpPr txBox="1">
            <a:spLocks/>
          </p:cNvSpPr>
          <p:nvPr/>
        </p:nvSpPr>
        <p:spPr>
          <a:xfrm>
            <a:off x="8323790" y="5015614"/>
            <a:ext cx="2286000" cy="1005840"/>
          </a:xfrm>
          <a:prstGeom prst="roundRect">
            <a:avLst>
              <a:gd name="adj" fmla="val 10145"/>
            </a:avLst>
          </a:prstGeom>
          <a:solidFill>
            <a:schemeClr val="bg1"/>
          </a:solidFill>
          <a:ln>
            <a:solidFill>
              <a:schemeClr val="accent5">
                <a:lumMod val="50000"/>
              </a:schemeClr>
            </a:solidFill>
          </a:ln>
        </p:spPr>
        <p:txBody>
          <a:bodyPr vert="horz" lIns="86416" tIns="43208" rIns="86416" bIns="43208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Proxima Nova Alt Rg" panose="02000506030000020004" pitchFamily="2" charset="77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1000" b="1" dirty="0">
                <a:solidFill>
                  <a:schemeClr val="accent3"/>
                </a:solidFill>
                <a:latin typeface="Helvetica" pitchFamily="2" charset="0"/>
              </a:rPr>
              <a:t>MODEL SELECTION</a:t>
            </a:r>
          </a:p>
          <a:p>
            <a:pPr>
              <a:lnSpc>
                <a:spcPct val="100000"/>
              </a:lnSpc>
            </a:pPr>
            <a:r>
              <a:rPr lang="en-US" sz="1400" dirty="0">
                <a:solidFill>
                  <a:schemeClr val="accent3"/>
                </a:solidFill>
                <a:latin typeface="Helvetica" pitchFamily="2" charset="0"/>
              </a:rPr>
              <a:t>Selected approach with best balance between</a:t>
            </a:r>
          </a:p>
          <a:p>
            <a:pPr marL="176213" indent="-176213">
              <a:lnSpc>
                <a:spcPct val="100000"/>
              </a:lnSpc>
              <a:buFont typeface="Wingdings" pitchFamily="2" charset="2"/>
              <a:buChar char="§"/>
            </a:pPr>
            <a:r>
              <a:rPr lang="en-US" sz="1000" dirty="0">
                <a:solidFill>
                  <a:schemeClr val="accent3"/>
                </a:solidFill>
                <a:latin typeface="Helvetica" pitchFamily="2" charset="0"/>
              </a:rPr>
              <a:t>Fraud detection</a:t>
            </a:r>
          </a:p>
          <a:p>
            <a:pPr marL="176213" indent="-176213">
              <a:lnSpc>
                <a:spcPct val="100000"/>
              </a:lnSpc>
              <a:buFont typeface="Wingdings" pitchFamily="2" charset="2"/>
              <a:buChar char="§"/>
            </a:pPr>
            <a:r>
              <a:rPr lang="en-US" sz="1000" dirty="0">
                <a:solidFill>
                  <a:schemeClr val="accent3"/>
                </a:solidFill>
                <a:latin typeface="Helvetica" pitchFamily="2" charset="0"/>
              </a:rPr>
              <a:t>Operational efficiency</a:t>
            </a:r>
          </a:p>
        </p:txBody>
      </p:sp>
      <p:sp>
        <p:nvSpPr>
          <p:cNvPr id="42" name="Title 1">
            <a:extLst>
              <a:ext uri="{FF2B5EF4-FFF2-40B4-BE49-F238E27FC236}">
                <a16:creationId xmlns:a16="http://schemas.microsoft.com/office/drawing/2014/main" id="{8EFDC560-9F77-D9F8-8B61-7879A2BF1E42}"/>
              </a:ext>
            </a:extLst>
          </p:cNvPr>
          <p:cNvSpPr txBox="1">
            <a:spLocks/>
          </p:cNvSpPr>
          <p:nvPr/>
        </p:nvSpPr>
        <p:spPr>
          <a:xfrm>
            <a:off x="1524004" y="5190277"/>
            <a:ext cx="2131639" cy="731519"/>
          </a:xfrm>
          <a:prstGeom prst="rect">
            <a:avLst/>
          </a:prstGeom>
        </p:spPr>
        <p:txBody>
          <a:bodyPr vert="horz" lIns="86416" tIns="43208" rIns="86416" bIns="43208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Proxima Nova Alt Rg" panose="02000506030000020004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000" b="1" dirty="0">
                <a:solidFill>
                  <a:schemeClr val="accent5">
                    <a:lumMod val="50000"/>
                  </a:schemeClr>
                </a:solidFill>
                <a:latin typeface="Helvetica" pitchFamily="2" charset="0"/>
              </a:rPr>
              <a:t>WHAT WAS DONE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solidFill>
                  <a:schemeClr val="accent5">
                    <a:lumMod val="50000"/>
                  </a:schemeClr>
                </a:solidFill>
                <a:latin typeface="Helvetica" pitchFamily="2" charset="0"/>
              </a:rPr>
              <a:t>Modeling Pipeline</a:t>
            </a:r>
          </a:p>
        </p:txBody>
      </p:sp>
      <p:cxnSp>
        <p:nvCxnSpPr>
          <p:cNvPr id="43" name="Elbow Connector 42">
            <a:extLst>
              <a:ext uri="{FF2B5EF4-FFF2-40B4-BE49-F238E27FC236}">
                <a16:creationId xmlns:a16="http://schemas.microsoft.com/office/drawing/2014/main" id="{25EE8D5E-3CC8-26FD-84A3-232FED05325D}"/>
              </a:ext>
            </a:extLst>
          </p:cNvPr>
          <p:cNvCxnSpPr>
            <a:stCxn id="38" idx="3"/>
            <a:endCxn id="39" idx="1"/>
          </p:cNvCxnSpPr>
          <p:nvPr/>
        </p:nvCxnSpPr>
        <p:spPr>
          <a:xfrm>
            <a:off x="5814789" y="5518534"/>
            <a:ext cx="234280" cy="453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Elbow Connector 43">
            <a:extLst>
              <a:ext uri="{FF2B5EF4-FFF2-40B4-BE49-F238E27FC236}">
                <a16:creationId xmlns:a16="http://schemas.microsoft.com/office/drawing/2014/main" id="{0387B24C-8E6B-631C-3A35-7048AA2B534D}"/>
              </a:ext>
            </a:extLst>
          </p:cNvPr>
          <p:cNvCxnSpPr>
            <a:cxnSpLocks/>
            <a:stCxn id="39" idx="3"/>
            <a:endCxn id="40" idx="1"/>
          </p:cNvCxnSpPr>
          <p:nvPr/>
        </p:nvCxnSpPr>
        <p:spPr>
          <a:xfrm flipV="1">
            <a:off x="8060749" y="5518534"/>
            <a:ext cx="263041" cy="453"/>
          </a:xfrm>
          <a:prstGeom prst="bentConnector3">
            <a:avLst/>
          </a:prstGeom>
          <a:ln w="28575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6" name="Picture 45">
            <a:extLst>
              <a:ext uri="{FF2B5EF4-FFF2-40B4-BE49-F238E27FC236}">
                <a16:creationId xmlns:a16="http://schemas.microsoft.com/office/drawing/2014/main" id="{BAC6BF59-0634-16BA-6684-AD4C57894C96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89029" y="5119168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3896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1DC68-ADE9-AB52-5D6C-A32F52D0E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A4D11-A932-7955-0608-106F87523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03" y="533480"/>
            <a:ext cx="10389071" cy="298548"/>
          </a:xfrm>
        </p:spPr>
        <p:txBody>
          <a:bodyPr>
            <a:noAutofit/>
          </a:bodyPr>
          <a:lstStyle/>
          <a:p>
            <a:pPr algn="l"/>
            <a:r>
              <a:rPr lang="en-PH" sz="1764" b="1" dirty="0">
                <a:solidFill>
                  <a:schemeClr val="accent4"/>
                </a:solidFill>
              </a:rPr>
              <a:t>MODEL PERFORMANCE</a:t>
            </a:r>
            <a:endParaRPr lang="en-US" sz="1764" b="1" dirty="0">
              <a:solidFill>
                <a:schemeClr val="accent4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8D8F135-F43C-4A13-B0C0-936119A04C00}"/>
              </a:ext>
            </a:extLst>
          </p:cNvPr>
          <p:cNvSpPr txBox="1">
            <a:spLocks/>
          </p:cNvSpPr>
          <p:nvPr/>
        </p:nvSpPr>
        <p:spPr>
          <a:xfrm>
            <a:off x="576103" y="832028"/>
            <a:ext cx="10389071" cy="919994"/>
          </a:xfrm>
          <a:prstGeom prst="rect">
            <a:avLst/>
          </a:prstGeom>
        </p:spPr>
        <p:txBody>
          <a:bodyPr vert="horz" lIns="86416" tIns="43208" rIns="86416" bIns="43208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Proxima Nova Alt Rg" panose="02000506030000020004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400" dirty="0">
                <a:solidFill>
                  <a:schemeClr val="accent3"/>
                </a:solidFill>
                <a:latin typeface="Helvetica" pitchFamily="2" charset="0"/>
              </a:rPr>
              <a:t>The final model produces highly reliable fraud alerts while capturing most fraudulent transactions.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4EA3EEE-60D0-05BB-DE81-756E5583B341}"/>
              </a:ext>
            </a:extLst>
          </p:cNvPr>
          <p:cNvCxnSpPr/>
          <p:nvPr/>
        </p:nvCxnSpPr>
        <p:spPr>
          <a:xfrm>
            <a:off x="503238" y="1772816"/>
            <a:ext cx="10515600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86540F3B-E4B4-EB84-D5D4-AF0DA65F4C42}"/>
              </a:ext>
            </a:extLst>
          </p:cNvPr>
          <p:cNvSpPr/>
          <p:nvPr/>
        </p:nvSpPr>
        <p:spPr>
          <a:xfrm>
            <a:off x="503238" y="2048390"/>
            <a:ext cx="10515600" cy="1097280"/>
          </a:xfrm>
          <a:prstGeom prst="roundRect">
            <a:avLst>
              <a:gd name="adj" fmla="val 12405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3EFE3FC1-1850-D3DB-3A76-18EEECC3A0D9}"/>
              </a:ext>
            </a:extLst>
          </p:cNvPr>
          <p:cNvSpPr txBox="1">
            <a:spLocks/>
          </p:cNvSpPr>
          <p:nvPr/>
        </p:nvSpPr>
        <p:spPr>
          <a:xfrm>
            <a:off x="1610748" y="2297223"/>
            <a:ext cx="1730738" cy="573565"/>
          </a:xfrm>
          <a:prstGeom prst="rect">
            <a:avLst/>
          </a:prstGeom>
        </p:spPr>
        <p:txBody>
          <a:bodyPr vert="horz" lIns="86416" tIns="43208" rIns="86416" bIns="43208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Proxima Nova Alt Rg" panose="02000506030000020004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Helvetica" pitchFamily="2" charset="0"/>
              </a:rPr>
              <a:t>Final Model Performance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398696A-CCB4-4604-DB0A-010FEEA63DA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93067" y="2231270"/>
            <a:ext cx="731520" cy="731520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D9C13033-B8A1-5B44-5FED-03FF5B3CE4A9}"/>
              </a:ext>
            </a:extLst>
          </p:cNvPr>
          <p:cNvSpPr txBox="1">
            <a:spLocks/>
          </p:cNvSpPr>
          <p:nvPr/>
        </p:nvSpPr>
        <p:spPr>
          <a:xfrm>
            <a:off x="3340893" y="2263965"/>
            <a:ext cx="2286000" cy="640080"/>
          </a:xfrm>
          <a:prstGeom prst="roundRect">
            <a:avLst>
              <a:gd name="adj" fmla="val 10145"/>
            </a:avLst>
          </a:prstGeom>
          <a:solidFill>
            <a:schemeClr val="bg1"/>
          </a:solidFill>
        </p:spPr>
        <p:txBody>
          <a:bodyPr vert="horz" lIns="86416" tIns="43208" rIns="86416" bIns="43208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Proxima Nova Alt Rg" panose="02000506030000020004" pitchFamily="2" charset="77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chemeClr val="accent3"/>
                </a:solidFill>
                <a:latin typeface="Helvetica" pitchFamily="2" charset="0"/>
              </a:rPr>
              <a:t>Detects </a:t>
            </a:r>
            <a:r>
              <a:rPr lang="en-US" sz="1400" b="1" dirty="0">
                <a:solidFill>
                  <a:schemeClr val="accent3"/>
                </a:solidFill>
                <a:latin typeface="Helvetica" pitchFamily="2" charset="0"/>
              </a:rPr>
              <a:t>majority</a:t>
            </a:r>
            <a:r>
              <a:rPr lang="en-US" sz="1400" dirty="0">
                <a:solidFill>
                  <a:schemeClr val="accent3"/>
                </a:solidFill>
                <a:latin typeface="Helvetica" pitchFamily="2" charset="0"/>
              </a:rPr>
              <a:t> </a:t>
            </a:r>
          </a:p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chemeClr val="accent3"/>
                </a:solidFill>
                <a:latin typeface="Helvetica" pitchFamily="2" charset="0"/>
              </a:rPr>
              <a:t>of fraudulent transactions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B37068ED-3585-32E6-A724-CDDB584CC635}"/>
              </a:ext>
            </a:extLst>
          </p:cNvPr>
          <p:cNvSpPr txBox="1">
            <a:spLocks/>
          </p:cNvSpPr>
          <p:nvPr/>
        </p:nvSpPr>
        <p:spPr>
          <a:xfrm>
            <a:off x="5813521" y="2263965"/>
            <a:ext cx="2286000" cy="640080"/>
          </a:xfrm>
          <a:prstGeom prst="roundRect">
            <a:avLst>
              <a:gd name="adj" fmla="val 10145"/>
            </a:avLst>
          </a:prstGeom>
          <a:solidFill>
            <a:schemeClr val="bg1"/>
          </a:solidFill>
        </p:spPr>
        <p:txBody>
          <a:bodyPr vert="horz" lIns="86416" tIns="43208" rIns="86416" bIns="43208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Proxima Nova Alt Rg" panose="02000506030000020004" pitchFamily="2" charset="77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chemeClr val="accent3"/>
                </a:solidFill>
                <a:latin typeface="Helvetica" pitchFamily="2" charset="0"/>
              </a:rPr>
              <a:t>Generates </a:t>
            </a:r>
          </a:p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chemeClr val="accent3"/>
                </a:solidFill>
                <a:latin typeface="Helvetica" pitchFamily="2" charset="0"/>
              </a:rPr>
              <a:t>high-confidence alerts</a:t>
            </a:r>
            <a:endParaRPr lang="en-US" sz="1400" dirty="0">
              <a:solidFill>
                <a:schemeClr val="accent3"/>
              </a:solidFill>
              <a:latin typeface="Helvetica" pitchFamily="2" charset="0"/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ADE6131F-F5A2-72ED-8B31-FB7C670A09CA}"/>
              </a:ext>
            </a:extLst>
          </p:cNvPr>
          <p:cNvSpPr txBox="1">
            <a:spLocks/>
          </p:cNvSpPr>
          <p:nvPr/>
        </p:nvSpPr>
        <p:spPr>
          <a:xfrm>
            <a:off x="8286149" y="2266169"/>
            <a:ext cx="2286000" cy="640080"/>
          </a:xfrm>
          <a:prstGeom prst="roundRect">
            <a:avLst>
              <a:gd name="adj" fmla="val 10145"/>
            </a:avLst>
          </a:prstGeom>
          <a:solidFill>
            <a:schemeClr val="bg1"/>
          </a:solidFill>
        </p:spPr>
        <p:txBody>
          <a:bodyPr vert="horz" lIns="86416" tIns="43208" rIns="86416" bIns="43208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Proxima Nova Alt Rg" panose="02000506030000020004" pitchFamily="2" charset="77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chemeClr val="accent3"/>
                </a:solidFill>
                <a:latin typeface="Helvetica" pitchFamily="2" charset="0"/>
              </a:rPr>
              <a:t>Flags </a:t>
            </a:r>
          </a:p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chemeClr val="accent3"/>
                </a:solidFill>
                <a:latin typeface="Helvetica" pitchFamily="2" charset="0"/>
              </a:rPr>
              <a:t>few false alarms</a:t>
            </a:r>
            <a:endParaRPr lang="en-US" sz="1400" dirty="0">
              <a:solidFill>
                <a:schemeClr val="accent3"/>
              </a:solidFill>
              <a:latin typeface="Helvetica" pitchFamily="2" charset="0"/>
            </a:endParaRPr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A0D462A7-A258-A654-B9C7-2F54C47DCF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9932799"/>
              </p:ext>
            </p:extLst>
          </p:nvPr>
        </p:nvGraphicFramePr>
        <p:xfrm>
          <a:off x="503238" y="3449166"/>
          <a:ext cx="10515600" cy="24630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1654845614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1269778371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1971254025"/>
                    </a:ext>
                  </a:extLst>
                </a:gridCol>
              </a:tblGrid>
              <a:tr h="623137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Helvetica" pitchFamily="2" charset="0"/>
                        </a:rPr>
                        <a:t>Performance</a:t>
                      </a:r>
                    </a:p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Helvetica" pitchFamily="2" charset="0"/>
                        </a:rPr>
                        <a:t>Metric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Helvetica" pitchFamily="2" charset="0"/>
                        </a:rPr>
                        <a:t>Interpretation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Helvetica" pitchFamily="2" charset="0"/>
                        </a:rPr>
                        <a:t>What This Means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6640324"/>
                  </a:ext>
                </a:extLst>
              </a:tr>
              <a:tr h="1024546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accent4"/>
                          </a:solidFill>
                          <a:latin typeface="Helvetica" pitchFamily="2" charset="0"/>
                        </a:rPr>
                        <a:t>Precision</a:t>
                      </a:r>
                    </a:p>
                    <a:p>
                      <a:pPr algn="ctr"/>
                      <a:r>
                        <a:rPr lang="en-US" sz="1600" b="1" dirty="0">
                          <a:solidFill>
                            <a:schemeClr val="accent4"/>
                          </a:solidFill>
                          <a:latin typeface="Helvetica" pitchFamily="2" charset="0"/>
                        </a:rPr>
                        <a:t>0.96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chemeClr val="accent4"/>
                          </a:solidFill>
                          <a:latin typeface="Helvetica" pitchFamily="2" charset="0"/>
                        </a:rPr>
                        <a:t>Very few false alarms</a:t>
                      </a:r>
                    </a:p>
                    <a:p>
                      <a:pPr algn="l"/>
                      <a:r>
                        <a:rPr lang="en-US" sz="1600" b="0" dirty="0">
                          <a:latin typeface="Helvetica" pitchFamily="2" charset="0"/>
                        </a:rPr>
                        <a:t>96% of flagged transactions are truly fraudulent.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0975" indent="-180975" algn="l">
                        <a:buFont typeface="Wingdings" pitchFamily="2" charset="2"/>
                        <a:buChar char="§"/>
                        <a:tabLst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Fraud teams can focus on higher quality cases.</a:t>
                      </a:r>
                    </a:p>
                    <a:p>
                      <a:pPr marL="180975" indent="-180975" algn="l">
                        <a:buFont typeface="Wingdings" pitchFamily="2" charset="2"/>
                        <a:buChar char="§"/>
                        <a:tabLst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Customers experience fewer unnecessary disruptions.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107261"/>
                  </a:ext>
                </a:extLst>
              </a:tr>
              <a:tr h="815393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accent4"/>
                          </a:solidFill>
                          <a:latin typeface="Helvetica" pitchFamily="2" charset="0"/>
                        </a:rPr>
                        <a:t>Recall</a:t>
                      </a:r>
                    </a:p>
                    <a:p>
                      <a:pPr algn="ctr"/>
                      <a:r>
                        <a:rPr lang="en-US" sz="1600" b="1" dirty="0">
                          <a:solidFill>
                            <a:schemeClr val="accent4"/>
                          </a:solidFill>
                          <a:latin typeface="Helvetica" pitchFamily="2" charset="0"/>
                        </a:rPr>
                        <a:t>0.79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Wingdings" pitchFamily="2" charset="2"/>
                        <a:buNone/>
                        <a:tabLst/>
                      </a:pPr>
                      <a:r>
                        <a:rPr lang="en-US" sz="1600" b="1" dirty="0">
                          <a:solidFill>
                            <a:schemeClr val="accent4"/>
                          </a:solidFill>
                          <a:latin typeface="Helvetica" pitchFamily="2" charset="0"/>
                        </a:rPr>
                        <a:t>Detects a majority of fraud cases</a:t>
                      </a:r>
                    </a:p>
                    <a:p>
                      <a:pPr marL="0" indent="0" algn="l">
                        <a:buFont typeface="Wingdings" pitchFamily="2" charset="2"/>
                        <a:buNone/>
                        <a:tabLst/>
                      </a:pPr>
                      <a:r>
                        <a:rPr lang="en-US" sz="1600" dirty="0">
                          <a:latin typeface="Helvetica" pitchFamily="2" charset="0"/>
                        </a:rPr>
                        <a:t>79% of fraud is detected.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0975" indent="-180975" algn="l">
                        <a:buFont typeface="Wingdings" pitchFamily="2" charset="2"/>
                        <a:buChar char="§"/>
                        <a:tabLst/>
                      </a:pPr>
                      <a:r>
                        <a:rPr lang="en-US" sz="1600" b="0" dirty="0">
                          <a:latin typeface="Helvetica" pitchFamily="2" charset="0"/>
                        </a:rPr>
                        <a:t>Strong fraud protection.</a:t>
                      </a:r>
                    </a:p>
                    <a:p>
                      <a:pPr marL="180975" indent="-180975" algn="l">
                        <a:buFont typeface="Wingdings" pitchFamily="2" charset="2"/>
                        <a:buChar char="§"/>
                        <a:tabLst/>
                      </a:pPr>
                      <a:r>
                        <a:rPr lang="en-US" sz="1600" b="0" dirty="0">
                          <a:latin typeface="Helvetica" pitchFamily="2" charset="0"/>
                        </a:rPr>
                        <a:t>BUT some fraud may still be missed.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62746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21885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E9B72-611F-D233-C26A-21056CBCE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B9537-CFDA-BFAE-C5BD-3B9DF2AA6D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03" y="533480"/>
            <a:ext cx="10389071" cy="298548"/>
          </a:xfrm>
        </p:spPr>
        <p:txBody>
          <a:bodyPr>
            <a:noAutofit/>
          </a:bodyPr>
          <a:lstStyle/>
          <a:p>
            <a:pPr algn="l"/>
            <a:r>
              <a:rPr lang="en-PH" sz="1764" b="1" dirty="0">
                <a:solidFill>
                  <a:schemeClr val="accent4"/>
                </a:solidFill>
              </a:rPr>
              <a:t>BUSINESS IMPACT &amp; ROI</a:t>
            </a:r>
            <a:endParaRPr lang="en-US" sz="1764" b="1" dirty="0">
              <a:solidFill>
                <a:schemeClr val="accent4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75B80C0-8723-CD0A-B974-8693A5D740B5}"/>
              </a:ext>
            </a:extLst>
          </p:cNvPr>
          <p:cNvSpPr txBox="1">
            <a:spLocks/>
          </p:cNvSpPr>
          <p:nvPr/>
        </p:nvSpPr>
        <p:spPr>
          <a:xfrm>
            <a:off x="576103" y="832028"/>
            <a:ext cx="10389071" cy="919994"/>
          </a:xfrm>
          <a:prstGeom prst="rect">
            <a:avLst/>
          </a:prstGeom>
        </p:spPr>
        <p:txBody>
          <a:bodyPr vert="horz" lIns="86416" tIns="43208" rIns="86416" bIns="43208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Proxima Nova Alt Rg" panose="02000506030000020004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400" dirty="0">
                <a:solidFill>
                  <a:schemeClr val="accent3"/>
                </a:solidFill>
                <a:latin typeface="Helvetica" pitchFamily="2" charset="0"/>
              </a:rPr>
              <a:t>The model reduces costs and improves efficiency while maintaining strong fraud protection.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9EDF6AC-603E-F181-52E6-DAD98A36D3A6}"/>
              </a:ext>
            </a:extLst>
          </p:cNvPr>
          <p:cNvCxnSpPr/>
          <p:nvPr/>
        </p:nvCxnSpPr>
        <p:spPr>
          <a:xfrm>
            <a:off x="503238" y="1772816"/>
            <a:ext cx="10515600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2FD35D82-A7E3-3F1E-D2A4-C356A5A7A2A5}"/>
              </a:ext>
            </a:extLst>
          </p:cNvPr>
          <p:cNvSpPr/>
          <p:nvPr/>
        </p:nvSpPr>
        <p:spPr>
          <a:xfrm>
            <a:off x="2392685" y="2425552"/>
            <a:ext cx="3200400" cy="3200400"/>
          </a:xfrm>
          <a:prstGeom prst="roundRect">
            <a:avLst>
              <a:gd name="adj" fmla="val 4768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56212F90-12FE-CA63-8E1E-372AC372DE56}"/>
              </a:ext>
            </a:extLst>
          </p:cNvPr>
          <p:cNvSpPr txBox="1">
            <a:spLocks/>
          </p:cNvSpPr>
          <p:nvPr/>
        </p:nvSpPr>
        <p:spPr>
          <a:xfrm>
            <a:off x="3201239" y="2755614"/>
            <a:ext cx="2118160" cy="525276"/>
          </a:xfrm>
          <a:prstGeom prst="rect">
            <a:avLst/>
          </a:prstGeom>
        </p:spPr>
        <p:txBody>
          <a:bodyPr vert="horz" lIns="86416" tIns="43208" rIns="86416" bIns="43208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Proxima Nova Alt Rg" panose="02000506030000020004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000" b="1" dirty="0">
                <a:solidFill>
                  <a:schemeClr val="accent4"/>
                </a:solidFill>
                <a:latin typeface="Helvetica" pitchFamily="2" charset="0"/>
              </a:rPr>
              <a:t>MACHINE LEARNING MODEL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solidFill>
                  <a:schemeClr val="accent4"/>
                </a:solidFill>
                <a:latin typeface="Helvetica" pitchFamily="2" charset="0"/>
              </a:rPr>
              <a:t>Value Proposition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CE0C8175-D669-CF0C-EDF0-80F5F7002953}"/>
              </a:ext>
            </a:extLst>
          </p:cNvPr>
          <p:cNvSpPr txBox="1">
            <a:spLocks/>
          </p:cNvSpPr>
          <p:nvPr/>
        </p:nvSpPr>
        <p:spPr>
          <a:xfrm>
            <a:off x="2552139" y="3470521"/>
            <a:ext cx="2938105" cy="2028293"/>
          </a:xfrm>
          <a:prstGeom prst="roundRect">
            <a:avLst>
              <a:gd name="adj" fmla="val 0"/>
            </a:avLst>
          </a:prstGeom>
          <a:noFill/>
          <a:ln w="19050">
            <a:noFill/>
          </a:ln>
        </p:spPr>
        <p:txBody>
          <a:bodyPr vert="horz" lIns="86416" tIns="43208" rIns="86416" bIns="43208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Proxima Nova Alt Rg" panose="02000506030000020004" pitchFamily="2" charset="77"/>
                <a:ea typeface="+mj-ea"/>
                <a:cs typeface="+mj-cs"/>
              </a:defRPr>
            </a:lvl1pPr>
          </a:lstStyle>
          <a:p>
            <a:pPr marL="173038" indent="-173038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§"/>
            </a:pPr>
            <a:r>
              <a:rPr lang="en-US" sz="1400" b="1" dirty="0">
                <a:solidFill>
                  <a:schemeClr val="accent3"/>
                </a:solidFill>
                <a:latin typeface="Helvetica" pitchFamily="2" charset="0"/>
              </a:rPr>
              <a:t>Reduced fraud losses: </a:t>
            </a:r>
            <a:r>
              <a:rPr lang="en-US" sz="1400" dirty="0">
                <a:solidFill>
                  <a:schemeClr val="accent3"/>
                </a:solidFill>
                <a:latin typeface="Helvetica" pitchFamily="2" charset="0"/>
              </a:rPr>
              <a:t>More fraud cases detected early</a:t>
            </a:r>
            <a:endParaRPr lang="en-US" sz="1400" b="1" dirty="0">
              <a:solidFill>
                <a:schemeClr val="accent3"/>
              </a:solidFill>
              <a:latin typeface="Helvetica" pitchFamily="2" charset="0"/>
            </a:endParaRPr>
          </a:p>
          <a:p>
            <a:pPr marL="173038" indent="-173038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§"/>
            </a:pPr>
            <a:r>
              <a:rPr lang="en-US" sz="1400" b="1" dirty="0">
                <a:solidFill>
                  <a:schemeClr val="accent3"/>
                </a:solidFill>
                <a:latin typeface="Helvetica" pitchFamily="2" charset="0"/>
              </a:rPr>
              <a:t>Lower operational costs: </a:t>
            </a:r>
            <a:r>
              <a:rPr lang="en-US" sz="1400" dirty="0">
                <a:solidFill>
                  <a:schemeClr val="accent3"/>
                </a:solidFill>
                <a:latin typeface="Helvetica" pitchFamily="2" charset="0"/>
              </a:rPr>
              <a:t>Fewer false alarms → less manual review </a:t>
            </a:r>
            <a:endParaRPr lang="en-US" sz="1400" b="1" dirty="0">
              <a:solidFill>
                <a:schemeClr val="accent3"/>
              </a:solidFill>
              <a:latin typeface="Helvetica" pitchFamily="2" charset="0"/>
            </a:endParaRPr>
          </a:p>
          <a:p>
            <a:pPr marL="173038" indent="-173038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§"/>
            </a:pPr>
            <a:r>
              <a:rPr lang="en-US" sz="1400" b="1" dirty="0">
                <a:solidFill>
                  <a:schemeClr val="accent3"/>
                </a:solidFill>
                <a:latin typeface="Helvetica" pitchFamily="2" charset="0"/>
              </a:rPr>
              <a:t>Better customer experience: </a:t>
            </a:r>
            <a:r>
              <a:rPr lang="en-US" sz="1400" dirty="0">
                <a:solidFill>
                  <a:schemeClr val="accent3"/>
                </a:solidFill>
                <a:latin typeface="Helvetica" pitchFamily="2" charset="0"/>
              </a:rPr>
              <a:t>Fewer unnecessary transaction disruptions</a:t>
            </a:r>
            <a:endParaRPr lang="en-US" sz="1000" b="1" dirty="0">
              <a:solidFill>
                <a:schemeClr val="accent3"/>
              </a:solidFill>
              <a:latin typeface="Helvetica" pitchFamily="2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89DB523-1FE1-21FE-1B7D-333289D225A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631424" y="2763523"/>
            <a:ext cx="548640" cy="548640"/>
          </a:xfrm>
          <a:prstGeom prst="rect">
            <a:avLst/>
          </a:prstGeom>
        </p:spPr>
      </p:pic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E6CBDBB2-9557-06D3-28EC-3BD8D9973489}"/>
              </a:ext>
            </a:extLst>
          </p:cNvPr>
          <p:cNvSpPr/>
          <p:nvPr/>
        </p:nvSpPr>
        <p:spPr>
          <a:xfrm>
            <a:off x="5905053" y="2420888"/>
            <a:ext cx="3200400" cy="3200400"/>
          </a:xfrm>
          <a:prstGeom prst="roundRect">
            <a:avLst>
              <a:gd name="adj" fmla="val 4768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EE0FC48C-D0E8-B58A-12F8-4FF5D7E580AE}"/>
              </a:ext>
            </a:extLst>
          </p:cNvPr>
          <p:cNvSpPr txBox="1">
            <a:spLocks/>
          </p:cNvSpPr>
          <p:nvPr/>
        </p:nvSpPr>
        <p:spPr>
          <a:xfrm>
            <a:off x="6713607" y="2750950"/>
            <a:ext cx="2118160" cy="525276"/>
          </a:xfrm>
          <a:prstGeom prst="rect">
            <a:avLst/>
          </a:prstGeom>
        </p:spPr>
        <p:txBody>
          <a:bodyPr vert="horz" lIns="86416" tIns="43208" rIns="86416" bIns="43208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Proxima Nova Alt Rg" panose="02000506030000020004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000" b="1" dirty="0">
                <a:solidFill>
                  <a:schemeClr val="accent4"/>
                </a:solidFill>
                <a:latin typeface="Helvetica" pitchFamily="2" charset="0"/>
              </a:rPr>
              <a:t>ML MODEL INTEGRATION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solidFill>
                  <a:schemeClr val="accent4"/>
                </a:solidFill>
                <a:latin typeface="Helvetica" pitchFamily="2" charset="0"/>
              </a:rPr>
              <a:t>Efficiency Gains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6DD6938B-11CC-2EBC-9153-F858E2FCE032}"/>
              </a:ext>
            </a:extLst>
          </p:cNvPr>
          <p:cNvSpPr txBox="1">
            <a:spLocks/>
          </p:cNvSpPr>
          <p:nvPr/>
        </p:nvSpPr>
        <p:spPr>
          <a:xfrm>
            <a:off x="6064507" y="3465857"/>
            <a:ext cx="2938105" cy="1407967"/>
          </a:xfrm>
          <a:prstGeom prst="roundRect">
            <a:avLst>
              <a:gd name="adj" fmla="val 0"/>
            </a:avLst>
          </a:prstGeom>
          <a:noFill/>
          <a:ln w="19050">
            <a:noFill/>
          </a:ln>
        </p:spPr>
        <p:txBody>
          <a:bodyPr vert="horz" lIns="86416" tIns="43208" rIns="86416" bIns="43208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Proxima Nova Alt Rg" panose="02000506030000020004" pitchFamily="2" charset="77"/>
                <a:ea typeface="+mj-ea"/>
                <a:cs typeface="+mj-cs"/>
              </a:defRPr>
            </a:lvl1pPr>
          </a:lstStyle>
          <a:p>
            <a:pPr marL="173038" indent="-173038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§"/>
            </a:pPr>
            <a:r>
              <a:rPr lang="en-US" sz="1400" dirty="0">
                <a:solidFill>
                  <a:schemeClr val="accent3"/>
                </a:solidFill>
                <a:latin typeface="Helvetica" pitchFamily="2" charset="0"/>
              </a:rPr>
              <a:t>More efficient fraud investigation process</a:t>
            </a:r>
            <a:endParaRPr lang="en-US" sz="1400" b="1" dirty="0">
              <a:solidFill>
                <a:schemeClr val="accent3"/>
              </a:solidFill>
              <a:latin typeface="Helvetica" pitchFamily="2" charset="0"/>
            </a:endParaRPr>
          </a:p>
          <a:p>
            <a:pPr marL="173038" indent="-173038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§"/>
            </a:pPr>
            <a:r>
              <a:rPr lang="en-US" sz="1400" dirty="0">
                <a:solidFill>
                  <a:schemeClr val="accent3"/>
                </a:solidFill>
                <a:latin typeface="Helvetica" pitchFamily="2" charset="0"/>
              </a:rPr>
              <a:t>Scalable fraud detection capability </a:t>
            </a:r>
            <a:endParaRPr lang="en-US" sz="1400" b="1" dirty="0">
              <a:solidFill>
                <a:schemeClr val="accent3"/>
              </a:solidFill>
              <a:latin typeface="Helvetica" pitchFamily="2" charset="0"/>
            </a:endParaRPr>
          </a:p>
          <a:p>
            <a:pPr marL="173038" indent="-173038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§"/>
            </a:pPr>
            <a:r>
              <a:rPr lang="en-US" sz="1400" dirty="0">
                <a:solidFill>
                  <a:schemeClr val="accent3"/>
                </a:solidFill>
                <a:latin typeface="Helvetica" pitchFamily="2" charset="0"/>
              </a:rPr>
              <a:t>Better resource allocation</a:t>
            </a:r>
            <a:endParaRPr lang="en-US" sz="1000" b="1" dirty="0">
              <a:solidFill>
                <a:schemeClr val="accent3"/>
              </a:solidFill>
              <a:latin typeface="Helvetica" pitchFamily="2" charset="0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A5F64877-7124-B5F7-4CA7-29DE8CAE68AA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127319" y="2763523"/>
            <a:ext cx="548640" cy="54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1887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F1DF8-AE57-529F-21B9-6A3D115AF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E0B9298D-CF9D-0C3E-08AC-560089F30BF7}"/>
              </a:ext>
            </a:extLst>
          </p:cNvPr>
          <p:cNvSpPr/>
          <p:nvPr/>
        </p:nvSpPr>
        <p:spPr>
          <a:xfrm>
            <a:off x="6193085" y="3494149"/>
            <a:ext cx="3816424" cy="1371600"/>
          </a:xfrm>
          <a:prstGeom prst="roundRect">
            <a:avLst>
              <a:gd name="adj" fmla="val 4768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C570E1-C61A-E5D4-63EF-CFF054647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03" y="533480"/>
            <a:ext cx="10389071" cy="298548"/>
          </a:xfrm>
        </p:spPr>
        <p:txBody>
          <a:bodyPr>
            <a:noAutofit/>
          </a:bodyPr>
          <a:lstStyle/>
          <a:p>
            <a:pPr algn="l"/>
            <a:r>
              <a:rPr lang="en-PH" sz="1764" b="1" dirty="0">
                <a:solidFill>
                  <a:schemeClr val="accent4"/>
                </a:solidFill>
              </a:rPr>
              <a:t>RISKS AND LIMITATIONS</a:t>
            </a:r>
            <a:endParaRPr lang="en-US" sz="1764" b="1" dirty="0">
              <a:solidFill>
                <a:schemeClr val="accent4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D7ADBF6-BDB0-CF08-26D3-669F10FF32CA}"/>
              </a:ext>
            </a:extLst>
          </p:cNvPr>
          <p:cNvSpPr txBox="1">
            <a:spLocks/>
          </p:cNvSpPr>
          <p:nvPr/>
        </p:nvSpPr>
        <p:spPr>
          <a:xfrm>
            <a:off x="576103" y="832028"/>
            <a:ext cx="10389071" cy="919994"/>
          </a:xfrm>
          <a:prstGeom prst="rect">
            <a:avLst/>
          </a:prstGeom>
        </p:spPr>
        <p:txBody>
          <a:bodyPr vert="horz" lIns="86416" tIns="43208" rIns="86416" bIns="43208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Proxima Nova Alt Rg" panose="02000506030000020004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400" dirty="0">
                <a:solidFill>
                  <a:schemeClr val="accent3"/>
                </a:solidFill>
                <a:latin typeface="Helvetica" pitchFamily="2" charset="0"/>
              </a:rPr>
              <a:t>Key risks must be actively managed to protect ROI and ensure fairness.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7AC31F2-C386-C7D3-E6C8-D7AB029A550D}"/>
              </a:ext>
            </a:extLst>
          </p:cNvPr>
          <p:cNvCxnSpPr/>
          <p:nvPr/>
        </p:nvCxnSpPr>
        <p:spPr>
          <a:xfrm>
            <a:off x="503238" y="1772816"/>
            <a:ext cx="10515600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66C98EB-1DF8-055B-6E0C-5B5554BF3A0F}"/>
              </a:ext>
            </a:extLst>
          </p:cNvPr>
          <p:cNvSpPr/>
          <p:nvPr/>
        </p:nvSpPr>
        <p:spPr>
          <a:xfrm>
            <a:off x="1183502" y="2253741"/>
            <a:ext cx="3840480" cy="1188720"/>
          </a:xfrm>
          <a:prstGeom prst="roundRect">
            <a:avLst>
              <a:gd name="adj" fmla="val 4768"/>
            </a:avLst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C91F3DD9-F71F-78E6-E968-62DBF64D62A8}"/>
              </a:ext>
            </a:extLst>
          </p:cNvPr>
          <p:cNvSpPr txBox="1">
            <a:spLocks/>
          </p:cNvSpPr>
          <p:nvPr/>
        </p:nvSpPr>
        <p:spPr>
          <a:xfrm>
            <a:off x="1367500" y="2276803"/>
            <a:ext cx="3657600" cy="525276"/>
          </a:xfrm>
          <a:prstGeom prst="rect">
            <a:avLst/>
          </a:prstGeom>
        </p:spPr>
        <p:txBody>
          <a:bodyPr vert="horz" lIns="86416" tIns="43208" rIns="86416" bIns="43208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Proxima Nova Alt Rg" panose="02000506030000020004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Helvetica" pitchFamily="2" charset="0"/>
              </a:rPr>
              <a:t>Performance Risks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C5C6CE3-0426-967B-7C01-B4828F305AFF}"/>
              </a:ext>
            </a:extLst>
          </p:cNvPr>
          <p:cNvSpPr txBox="1">
            <a:spLocks/>
          </p:cNvSpPr>
          <p:nvPr/>
        </p:nvSpPr>
        <p:spPr>
          <a:xfrm>
            <a:off x="1353411" y="2708920"/>
            <a:ext cx="3657600" cy="640080"/>
          </a:xfrm>
          <a:prstGeom prst="roundRect">
            <a:avLst>
              <a:gd name="adj" fmla="val 0"/>
            </a:avLst>
          </a:prstGeom>
          <a:noFill/>
          <a:ln w="19050">
            <a:noFill/>
          </a:ln>
        </p:spPr>
        <p:txBody>
          <a:bodyPr vert="horz" lIns="86416" tIns="43208" rIns="86416" bIns="43208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Proxima Nova Alt Rg" panose="02000506030000020004" pitchFamily="2" charset="77"/>
                <a:ea typeface="+mj-ea"/>
                <a:cs typeface="+mj-cs"/>
              </a:defRPr>
            </a:lvl1pPr>
          </a:lstStyle>
          <a:p>
            <a:pPr marL="173038" indent="-173038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§"/>
            </a:pPr>
            <a:r>
              <a:rPr lang="en-US" sz="1400" dirty="0">
                <a:solidFill>
                  <a:schemeClr val="accent3"/>
                </a:solidFill>
                <a:latin typeface="Helvetica" pitchFamily="2" charset="0"/>
              </a:rPr>
              <a:t>Missed fraud cases (false negatives)</a:t>
            </a:r>
          </a:p>
          <a:p>
            <a:pPr marL="173038" indent="-173038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§"/>
            </a:pPr>
            <a:r>
              <a:rPr lang="en-US" sz="1400" dirty="0">
                <a:solidFill>
                  <a:schemeClr val="accent3"/>
                </a:solidFill>
                <a:latin typeface="Helvetica" pitchFamily="2" charset="0"/>
              </a:rPr>
              <a:t>Uneven detection across time segments</a:t>
            </a:r>
            <a:endParaRPr lang="en-US" sz="1000" dirty="0">
              <a:solidFill>
                <a:schemeClr val="accent3"/>
              </a:solidFill>
              <a:latin typeface="Helvetica" pitchFamily="2" charset="0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6E48A65-C6EC-F1E0-56BD-2075573013BC}"/>
              </a:ext>
            </a:extLst>
          </p:cNvPr>
          <p:cNvSpPr/>
          <p:nvPr/>
        </p:nvSpPr>
        <p:spPr>
          <a:xfrm>
            <a:off x="1170531" y="3559941"/>
            <a:ext cx="3840480" cy="1188720"/>
          </a:xfrm>
          <a:prstGeom prst="roundRect">
            <a:avLst>
              <a:gd name="adj" fmla="val 4768"/>
            </a:avLst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1102E749-1DA2-7451-476D-835030017A70}"/>
              </a:ext>
            </a:extLst>
          </p:cNvPr>
          <p:cNvSpPr txBox="1">
            <a:spLocks/>
          </p:cNvSpPr>
          <p:nvPr/>
        </p:nvSpPr>
        <p:spPr>
          <a:xfrm>
            <a:off x="1344074" y="3589922"/>
            <a:ext cx="3657600" cy="525276"/>
          </a:xfrm>
          <a:prstGeom prst="rect">
            <a:avLst/>
          </a:prstGeom>
        </p:spPr>
        <p:txBody>
          <a:bodyPr vert="horz" lIns="86416" tIns="43208" rIns="86416" bIns="43208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Proxima Nova Alt Rg" panose="02000506030000020004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Helvetica" pitchFamily="2" charset="0"/>
              </a:rPr>
              <a:t>Fairness &amp; Governance Risks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A32F000B-CC0C-F688-3F1A-BA5233F0DB6E}"/>
              </a:ext>
            </a:extLst>
          </p:cNvPr>
          <p:cNvSpPr txBox="1">
            <a:spLocks/>
          </p:cNvSpPr>
          <p:nvPr/>
        </p:nvSpPr>
        <p:spPr>
          <a:xfrm>
            <a:off x="1329985" y="4005064"/>
            <a:ext cx="3657600" cy="640080"/>
          </a:xfrm>
          <a:prstGeom prst="roundRect">
            <a:avLst>
              <a:gd name="adj" fmla="val 0"/>
            </a:avLst>
          </a:prstGeom>
          <a:noFill/>
          <a:ln w="19050">
            <a:noFill/>
          </a:ln>
        </p:spPr>
        <p:txBody>
          <a:bodyPr vert="horz" lIns="86416" tIns="43208" rIns="86416" bIns="43208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Proxima Nova Alt Rg" panose="02000506030000020004" pitchFamily="2" charset="77"/>
                <a:ea typeface="+mj-ea"/>
                <a:cs typeface="+mj-cs"/>
              </a:defRPr>
            </a:lvl1pPr>
          </a:lstStyle>
          <a:p>
            <a:pPr marL="173038" indent="-173038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§"/>
            </a:pPr>
            <a:r>
              <a:rPr lang="en-US" sz="1400" dirty="0">
                <a:solidFill>
                  <a:schemeClr val="accent3"/>
                </a:solidFill>
                <a:latin typeface="Helvetica" pitchFamily="2" charset="0"/>
              </a:rPr>
              <a:t>Variability in subgroup performance</a:t>
            </a:r>
          </a:p>
          <a:p>
            <a:pPr marL="173038" indent="-173038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§"/>
            </a:pPr>
            <a:r>
              <a:rPr lang="en-US" sz="1400" dirty="0">
                <a:solidFill>
                  <a:schemeClr val="accent3"/>
                </a:solidFill>
                <a:latin typeface="Helvetica" pitchFamily="2" charset="0"/>
              </a:rPr>
              <a:t>Limited ability to fully assess fairness</a:t>
            </a:r>
            <a:endParaRPr lang="en-US" sz="1000" dirty="0">
              <a:solidFill>
                <a:schemeClr val="accent3"/>
              </a:solidFill>
              <a:latin typeface="Helvetica" pitchFamily="2" charset="0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17959CF0-0B48-9CCB-557D-6FE26EC78BED}"/>
              </a:ext>
            </a:extLst>
          </p:cNvPr>
          <p:cNvSpPr/>
          <p:nvPr/>
        </p:nvSpPr>
        <p:spPr>
          <a:xfrm>
            <a:off x="1155811" y="4865749"/>
            <a:ext cx="3840480" cy="1188720"/>
          </a:xfrm>
          <a:prstGeom prst="roundRect">
            <a:avLst>
              <a:gd name="adj" fmla="val 4768"/>
            </a:avLst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F0BF359B-E52B-E962-E87C-9C2A2ACBE091}"/>
              </a:ext>
            </a:extLst>
          </p:cNvPr>
          <p:cNvSpPr txBox="1">
            <a:spLocks/>
          </p:cNvSpPr>
          <p:nvPr/>
        </p:nvSpPr>
        <p:spPr>
          <a:xfrm>
            <a:off x="1314733" y="4920072"/>
            <a:ext cx="3657600" cy="525276"/>
          </a:xfrm>
          <a:prstGeom prst="rect">
            <a:avLst/>
          </a:prstGeom>
        </p:spPr>
        <p:txBody>
          <a:bodyPr vert="horz" lIns="86416" tIns="43208" rIns="86416" bIns="43208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Proxima Nova Alt Rg" panose="02000506030000020004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Helvetica" pitchFamily="2" charset="0"/>
              </a:rPr>
              <a:t>Interpretability Risks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92F08C60-9778-B76C-4AF6-03C6322E17E7}"/>
              </a:ext>
            </a:extLst>
          </p:cNvPr>
          <p:cNvSpPr txBox="1">
            <a:spLocks/>
          </p:cNvSpPr>
          <p:nvPr/>
        </p:nvSpPr>
        <p:spPr>
          <a:xfrm>
            <a:off x="1300644" y="5301208"/>
            <a:ext cx="3657600" cy="640080"/>
          </a:xfrm>
          <a:prstGeom prst="roundRect">
            <a:avLst>
              <a:gd name="adj" fmla="val 0"/>
            </a:avLst>
          </a:prstGeom>
          <a:noFill/>
          <a:ln w="19050">
            <a:noFill/>
          </a:ln>
        </p:spPr>
        <p:txBody>
          <a:bodyPr vert="horz" lIns="86416" tIns="43208" rIns="86416" bIns="43208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Proxima Nova Alt Rg" panose="02000506030000020004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1400" dirty="0">
                <a:solidFill>
                  <a:schemeClr val="accent3"/>
                </a:solidFill>
                <a:latin typeface="Helvetica" pitchFamily="2" charset="0"/>
              </a:rPr>
              <a:t>Model is technically explainable but not directly actionable due to anonymized features</a:t>
            </a:r>
            <a:endParaRPr lang="en-US" sz="1000" dirty="0">
              <a:solidFill>
                <a:schemeClr val="accent3"/>
              </a:solidFill>
              <a:latin typeface="Helvetica" pitchFamily="2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4EAB8F6-5713-4EE8-C0CA-15A4B26BC294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542429" y="3790449"/>
            <a:ext cx="731520" cy="731520"/>
          </a:xfrm>
          <a:prstGeom prst="rect">
            <a:avLst/>
          </a:prstGeo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7C5CAF75-26BA-01A6-6A58-996B64E61539}"/>
              </a:ext>
            </a:extLst>
          </p:cNvPr>
          <p:cNvSpPr txBox="1">
            <a:spLocks/>
          </p:cNvSpPr>
          <p:nvPr/>
        </p:nvSpPr>
        <p:spPr>
          <a:xfrm>
            <a:off x="7385766" y="3538241"/>
            <a:ext cx="2650221" cy="1363459"/>
          </a:xfrm>
          <a:prstGeom prst="rect">
            <a:avLst/>
          </a:prstGeom>
        </p:spPr>
        <p:txBody>
          <a:bodyPr vert="horz" lIns="86416" tIns="43208" rIns="86416" bIns="43208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Proxima Nova Alt Rg" panose="02000506030000020004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000" b="1" dirty="0">
                <a:solidFill>
                  <a:schemeClr val="accent5">
                    <a:lumMod val="50000"/>
                  </a:schemeClr>
                </a:solidFill>
                <a:latin typeface="Helvetica" pitchFamily="2" charset="0"/>
              </a:rPr>
              <a:t>IMPLICATION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solidFill>
                  <a:schemeClr val="accent5">
                    <a:lumMod val="50000"/>
                  </a:schemeClr>
                </a:solidFill>
                <a:latin typeface="Helvetica" pitchFamily="2" charset="0"/>
              </a:rPr>
              <a:t>Model cannot operate independently without safeguards.</a:t>
            </a:r>
          </a:p>
        </p:txBody>
      </p:sp>
    </p:spTree>
    <p:extLst>
      <p:ext uri="{BB962C8B-B14F-4D97-AF65-F5344CB8AC3E}">
        <p14:creationId xmlns:p14="http://schemas.microsoft.com/office/powerpoint/2010/main" val="3906837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AA626-BA9E-B5BC-0945-857668777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40846-E89D-7DEE-DD4E-8697E5783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03" y="533480"/>
            <a:ext cx="10389071" cy="298548"/>
          </a:xfrm>
        </p:spPr>
        <p:txBody>
          <a:bodyPr>
            <a:noAutofit/>
          </a:bodyPr>
          <a:lstStyle/>
          <a:p>
            <a:pPr algn="l"/>
            <a:r>
              <a:rPr lang="en-PH" sz="1764" b="1" dirty="0">
                <a:solidFill>
                  <a:schemeClr val="accent4"/>
                </a:solidFill>
              </a:rPr>
              <a:t>STRATEGY &amp; RECOMMENDATIONS</a:t>
            </a:r>
            <a:endParaRPr lang="en-US" sz="1764" b="1" dirty="0">
              <a:solidFill>
                <a:schemeClr val="accent4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74561D5-9FFD-3515-297C-0BC89E36F392}"/>
              </a:ext>
            </a:extLst>
          </p:cNvPr>
          <p:cNvSpPr txBox="1">
            <a:spLocks/>
          </p:cNvSpPr>
          <p:nvPr/>
        </p:nvSpPr>
        <p:spPr>
          <a:xfrm>
            <a:off x="576103" y="832028"/>
            <a:ext cx="10389071" cy="919994"/>
          </a:xfrm>
          <a:prstGeom prst="rect">
            <a:avLst/>
          </a:prstGeom>
        </p:spPr>
        <p:txBody>
          <a:bodyPr vert="horz" lIns="86416" tIns="43208" rIns="86416" bIns="43208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Proxima Nova Alt Rg" panose="02000506030000020004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400" dirty="0">
                <a:solidFill>
                  <a:schemeClr val="accent3"/>
                </a:solidFill>
                <a:latin typeface="Helvetica" pitchFamily="2" charset="0"/>
              </a:rPr>
              <a:t>Adopt a multi-layered strategy to maximize the model’s value and manage fraud risk effectively.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E200EBB-71AC-8A9F-B0A0-4C601AC9482F}"/>
              </a:ext>
            </a:extLst>
          </p:cNvPr>
          <p:cNvCxnSpPr/>
          <p:nvPr/>
        </p:nvCxnSpPr>
        <p:spPr>
          <a:xfrm>
            <a:off x="503238" y="1772816"/>
            <a:ext cx="10515600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8E5E3EF-183C-433F-6771-B171493A1A26}"/>
              </a:ext>
            </a:extLst>
          </p:cNvPr>
          <p:cNvSpPr/>
          <p:nvPr/>
        </p:nvSpPr>
        <p:spPr>
          <a:xfrm>
            <a:off x="994643" y="2215961"/>
            <a:ext cx="4572000" cy="1554480"/>
          </a:xfrm>
          <a:prstGeom prst="roundRect">
            <a:avLst>
              <a:gd name="adj" fmla="val 8334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C165FB6-D8F5-99F2-6BBE-4B9503AE50E9}"/>
              </a:ext>
            </a:extLst>
          </p:cNvPr>
          <p:cNvSpPr txBox="1">
            <a:spLocks/>
          </p:cNvSpPr>
          <p:nvPr/>
        </p:nvSpPr>
        <p:spPr>
          <a:xfrm>
            <a:off x="1929785" y="2317918"/>
            <a:ext cx="3200400" cy="731519"/>
          </a:xfrm>
          <a:prstGeom prst="rect">
            <a:avLst/>
          </a:prstGeom>
        </p:spPr>
        <p:txBody>
          <a:bodyPr vert="horz" lIns="86416" tIns="43208" rIns="86416" bIns="43208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Proxima Nova Alt Rg" panose="02000506030000020004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chemeClr val="bg1"/>
                </a:solidFill>
                <a:latin typeface="Helvetica" pitchFamily="2" charset="0"/>
              </a:rPr>
              <a:t>Fraud Detection Strategy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2A1C448-3451-ADD2-D11F-C37CDBD74361}"/>
              </a:ext>
            </a:extLst>
          </p:cNvPr>
          <p:cNvSpPr txBox="1">
            <a:spLocks/>
          </p:cNvSpPr>
          <p:nvPr/>
        </p:nvSpPr>
        <p:spPr>
          <a:xfrm>
            <a:off x="1223243" y="3076133"/>
            <a:ext cx="4114800" cy="640080"/>
          </a:xfrm>
          <a:prstGeom prst="roundRect">
            <a:avLst>
              <a:gd name="adj" fmla="val 0"/>
            </a:avLst>
          </a:prstGeom>
          <a:noFill/>
          <a:ln w="19050">
            <a:noFill/>
          </a:ln>
        </p:spPr>
        <p:txBody>
          <a:bodyPr vert="horz" lIns="86416" tIns="43208" rIns="86416" bIns="43208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Proxima Nova Alt Rg" panose="02000506030000020004" pitchFamily="2" charset="77"/>
                <a:ea typeface="+mj-ea"/>
                <a:cs typeface="+mj-cs"/>
              </a:defRPr>
            </a:lvl1pPr>
          </a:lstStyle>
          <a:p>
            <a:pPr marL="173038" indent="-173038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§"/>
            </a:pPr>
            <a:r>
              <a:rPr lang="en-US" sz="1400" dirty="0">
                <a:solidFill>
                  <a:schemeClr val="bg1"/>
                </a:solidFill>
                <a:latin typeface="Helvetica" pitchFamily="2" charset="0"/>
              </a:rPr>
              <a:t>Deploy model as primary fraud detection layer.</a:t>
            </a:r>
          </a:p>
          <a:p>
            <a:pPr marL="173038" indent="-173038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§"/>
            </a:pPr>
            <a:r>
              <a:rPr lang="en-US" sz="1400" dirty="0">
                <a:solidFill>
                  <a:schemeClr val="bg1"/>
                </a:solidFill>
                <a:latin typeface="Helvetica" pitchFamily="2" charset="0"/>
              </a:rPr>
              <a:t>Adjust thresholds based on risk appetite.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91027EE-81BE-0F19-EF89-570A83A71C74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98266" y="2307401"/>
            <a:ext cx="731520" cy="731520"/>
          </a:xfrm>
          <a:prstGeom prst="rect">
            <a:avLst/>
          </a:prstGeom>
        </p:spPr>
      </p:pic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AC658712-EA57-649A-2699-D7E879354193}"/>
              </a:ext>
            </a:extLst>
          </p:cNvPr>
          <p:cNvSpPr/>
          <p:nvPr/>
        </p:nvSpPr>
        <p:spPr>
          <a:xfrm>
            <a:off x="994643" y="3984292"/>
            <a:ext cx="4572000" cy="2103120"/>
          </a:xfrm>
          <a:prstGeom prst="roundRect">
            <a:avLst>
              <a:gd name="adj" fmla="val 687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168D7BDF-8BE0-02BB-3448-3DB8AE7F7745}"/>
              </a:ext>
            </a:extLst>
          </p:cNvPr>
          <p:cNvSpPr txBox="1">
            <a:spLocks/>
          </p:cNvSpPr>
          <p:nvPr/>
        </p:nvSpPr>
        <p:spPr>
          <a:xfrm>
            <a:off x="1929785" y="4078361"/>
            <a:ext cx="3200400" cy="731520"/>
          </a:xfrm>
          <a:prstGeom prst="rect">
            <a:avLst/>
          </a:prstGeom>
        </p:spPr>
        <p:txBody>
          <a:bodyPr vert="horz" lIns="86416" tIns="43208" rIns="86416" bIns="43208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Proxima Nova Alt Rg" panose="02000506030000020004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chemeClr val="bg1"/>
                </a:solidFill>
                <a:latin typeface="Helvetica" pitchFamily="2" charset="0"/>
              </a:rPr>
              <a:t>Decision </a:t>
            </a:r>
          </a:p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chemeClr val="bg1"/>
                </a:solidFill>
                <a:latin typeface="Helvetica" pitchFamily="2" charset="0"/>
              </a:rPr>
              <a:t>Strategy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2DD5AEDC-0B78-DFD5-40AB-D136CF38BE4D}"/>
              </a:ext>
            </a:extLst>
          </p:cNvPr>
          <p:cNvSpPr txBox="1">
            <a:spLocks/>
          </p:cNvSpPr>
          <p:nvPr/>
        </p:nvSpPr>
        <p:spPr>
          <a:xfrm>
            <a:off x="1235441" y="4818712"/>
            <a:ext cx="4114800" cy="1217318"/>
          </a:xfrm>
          <a:prstGeom prst="roundRect">
            <a:avLst>
              <a:gd name="adj" fmla="val 0"/>
            </a:avLst>
          </a:prstGeom>
          <a:noFill/>
          <a:ln w="19050">
            <a:noFill/>
          </a:ln>
        </p:spPr>
        <p:txBody>
          <a:bodyPr vert="horz" lIns="86416" tIns="43208" rIns="86416" bIns="43208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Proxima Nova Alt Rg" panose="02000506030000020004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1400" dirty="0">
                <a:solidFill>
                  <a:schemeClr val="bg1"/>
                </a:solidFill>
                <a:latin typeface="Helvetica" pitchFamily="2" charset="0"/>
              </a:rPr>
              <a:t>Implement a tiered decision framework:</a:t>
            </a:r>
          </a:p>
          <a:p>
            <a:pPr marL="173038" indent="-173038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§"/>
            </a:pPr>
            <a:r>
              <a:rPr lang="en-US" sz="1400" dirty="0">
                <a:solidFill>
                  <a:schemeClr val="bg1"/>
                </a:solidFill>
                <a:latin typeface="Helvetica" pitchFamily="2" charset="0"/>
              </a:rPr>
              <a:t>High-risk → Block</a:t>
            </a:r>
          </a:p>
          <a:p>
            <a:pPr marL="173038" indent="-173038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§"/>
            </a:pPr>
            <a:r>
              <a:rPr lang="en-US" sz="1400" dirty="0">
                <a:solidFill>
                  <a:schemeClr val="bg1"/>
                </a:solidFill>
                <a:latin typeface="Helvetica" pitchFamily="2" charset="0"/>
              </a:rPr>
              <a:t>Medium-risk → Review</a:t>
            </a:r>
          </a:p>
          <a:p>
            <a:pPr marL="173038" indent="-173038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§"/>
            </a:pPr>
            <a:r>
              <a:rPr lang="en-US" sz="1400" dirty="0">
                <a:solidFill>
                  <a:schemeClr val="bg1"/>
                </a:solidFill>
                <a:latin typeface="Helvetica" pitchFamily="2" charset="0"/>
              </a:rPr>
              <a:t>Low-risk → Approve</a:t>
            </a:r>
          </a:p>
          <a:p>
            <a:pPr marL="173038" indent="-173038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§"/>
            </a:pPr>
            <a:endParaRPr lang="en-US" sz="1400" dirty="0">
              <a:solidFill>
                <a:schemeClr val="bg1"/>
              </a:solidFill>
              <a:latin typeface="Helvetica" pitchFamily="2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14E9F7F-6412-08C2-41EE-EB4D8F7D480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23243" y="4081134"/>
            <a:ext cx="731520" cy="731520"/>
          </a:xfrm>
          <a:prstGeom prst="rect">
            <a:avLst/>
          </a:prstGeom>
        </p:spPr>
      </p:pic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98AF08D8-67FE-4D3D-F22A-84F825AB1851}"/>
              </a:ext>
            </a:extLst>
          </p:cNvPr>
          <p:cNvSpPr/>
          <p:nvPr/>
        </p:nvSpPr>
        <p:spPr>
          <a:xfrm>
            <a:off x="5974392" y="2215961"/>
            <a:ext cx="4572000" cy="1862400"/>
          </a:xfrm>
          <a:prstGeom prst="roundRect">
            <a:avLst>
              <a:gd name="adj" fmla="val 8334"/>
            </a:avLst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9AE7039E-DF0D-C7C1-AF9A-F8A75C09B247}"/>
              </a:ext>
            </a:extLst>
          </p:cNvPr>
          <p:cNvSpPr txBox="1">
            <a:spLocks/>
          </p:cNvSpPr>
          <p:nvPr/>
        </p:nvSpPr>
        <p:spPr>
          <a:xfrm>
            <a:off x="6909534" y="2317918"/>
            <a:ext cx="3200400" cy="731519"/>
          </a:xfrm>
          <a:prstGeom prst="rect">
            <a:avLst/>
          </a:prstGeom>
        </p:spPr>
        <p:txBody>
          <a:bodyPr vert="horz" lIns="86416" tIns="43208" rIns="86416" bIns="43208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Proxima Nova Alt Rg" panose="02000506030000020004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chemeClr val="bg1"/>
                </a:solidFill>
                <a:latin typeface="Helvetica" pitchFamily="2" charset="0"/>
              </a:rPr>
              <a:t>Risk Management Strategy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BB150290-759F-6003-4740-EE529ED374AC}"/>
              </a:ext>
            </a:extLst>
          </p:cNvPr>
          <p:cNvSpPr txBox="1">
            <a:spLocks/>
          </p:cNvSpPr>
          <p:nvPr/>
        </p:nvSpPr>
        <p:spPr>
          <a:xfrm>
            <a:off x="6202992" y="3076132"/>
            <a:ext cx="4114800" cy="908159"/>
          </a:xfrm>
          <a:prstGeom prst="roundRect">
            <a:avLst>
              <a:gd name="adj" fmla="val 0"/>
            </a:avLst>
          </a:prstGeom>
          <a:noFill/>
          <a:ln w="19050">
            <a:noFill/>
          </a:ln>
        </p:spPr>
        <p:txBody>
          <a:bodyPr vert="horz" lIns="86416" tIns="43208" rIns="86416" bIns="43208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Proxima Nova Alt Rg" panose="02000506030000020004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1400" dirty="0">
                <a:solidFill>
                  <a:schemeClr val="bg1"/>
                </a:solidFill>
                <a:latin typeface="Helvetica" pitchFamily="2" charset="0"/>
              </a:rPr>
              <a:t>Implement continuous monitoring of key metrics:</a:t>
            </a:r>
          </a:p>
          <a:p>
            <a:pPr marL="173038" indent="-173038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§"/>
            </a:pPr>
            <a:r>
              <a:rPr lang="en-US" sz="1400" dirty="0">
                <a:solidFill>
                  <a:schemeClr val="bg1"/>
                </a:solidFill>
                <a:latin typeface="Helvetica" pitchFamily="2" charset="0"/>
              </a:rPr>
              <a:t>Model Performance: Recall, Precision, PR-AUC</a:t>
            </a:r>
          </a:p>
          <a:p>
            <a:pPr marL="173038" indent="-173038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§"/>
            </a:pPr>
            <a:r>
              <a:rPr lang="en-US" sz="1400" dirty="0">
                <a:solidFill>
                  <a:schemeClr val="bg1"/>
                </a:solidFill>
                <a:latin typeface="Helvetica" pitchFamily="2" charset="0"/>
              </a:rPr>
              <a:t>Fairness: Subgroup Performance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F2A5AD95-F96F-AAD4-A687-DDCDFEE916CB}"/>
              </a:ext>
            </a:extLst>
          </p:cNvPr>
          <p:cNvSpPr/>
          <p:nvPr/>
        </p:nvSpPr>
        <p:spPr>
          <a:xfrm>
            <a:off x="5964485" y="4225012"/>
            <a:ext cx="4572000" cy="1862400"/>
          </a:xfrm>
          <a:prstGeom prst="roundRect">
            <a:avLst>
              <a:gd name="adj" fmla="val 8334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30C3E1F6-DA3C-B5CC-0AD6-ADFB03C4AD90}"/>
              </a:ext>
            </a:extLst>
          </p:cNvPr>
          <p:cNvSpPr txBox="1">
            <a:spLocks/>
          </p:cNvSpPr>
          <p:nvPr/>
        </p:nvSpPr>
        <p:spPr>
          <a:xfrm>
            <a:off x="6899627" y="4326969"/>
            <a:ext cx="3200400" cy="731519"/>
          </a:xfrm>
          <a:prstGeom prst="rect">
            <a:avLst/>
          </a:prstGeom>
        </p:spPr>
        <p:txBody>
          <a:bodyPr vert="horz" lIns="86416" tIns="43208" rIns="86416" bIns="43208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Proxima Nova Alt Rg" panose="02000506030000020004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chemeClr val="bg1"/>
                </a:solidFill>
                <a:latin typeface="Helvetica" pitchFamily="2" charset="0"/>
              </a:rPr>
              <a:t>Governance &amp; Ethical AI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C741AF59-38A7-3F60-F3E7-26B1ADE3A062}"/>
              </a:ext>
            </a:extLst>
          </p:cNvPr>
          <p:cNvSpPr txBox="1">
            <a:spLocks/>
          </p:cNvSpPr>
          <p:nvPr/>
        </p:nvSpPr>
        <p:spPr>
          <a:xfrm>
            <a:off x="6193085" y="5085184"/>
            <a:ext cx="4114800" cy="950846"/>
          </a:xfrm>
          <a:prstGeom prst="roundRect">
            <a:avLst>
              <a:gd name="adj" fmla="val 0"/>
            </a:avLst>
          </a:prstGeom>
          <a:noFill/>
          <a:ln w="19050">
            <a:noFill/>
          </a:ln>
        </p:spPr>
        <p:txBody>
          <a:bodyPr vert="horz" lIns="86416" tIns="43208" rIns="86416" bIns="43208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Proxima Nova Alt Rg" panose="02000506030000020004" pitchFamily="2" charset="77"/>
                <a:ea typeface="+mj-ea"/>
                <a:cs typeface="+mj-cs"/>
              </a:defRPr>
            </a:lvl1pPr>
          </a:lstStyle>
          <a:p>
            <a:pPr marL="173038" indent="-173038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§"/>
            </a:pPr>
            <a:r>
              <a:rPr lang="en-US" sz="1400" dirty="0">
                <a:solidFill>
                  <a:schemeClr val="bg1"/>
                </a:solidFill>
                <a:latin typeface="Helvetica" pitchFamily="2" charset="0"/>
              </a:rPr>
              <a:t>Maintain audit logs and model transparency</a:t>
            </a:r>
          </a:p>
          <a:p>
            <a:pPr marL="173038" indent="-173038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§"/>
            </a:pPr>
            <a:r>
              <a:rPr lang="en-US" sz="1400" dirty="0">
                <a:solidFill>
                  <a:schemeClr val="bg1"/>
                </a:solidFill>
                <a:latin typeface="Helvetica" pitchFamily="2" charset="0"/>
              </a:rPr>
              <a:t>Monitor fairness and bias</a:t>
            </a:r>
          </a:p>
          <a:p>
            <a:pPr marL="173038" indent="-173038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§"/>
            </a:pPr>
            <a:r>
              <a:rPr lang="en-US" sz="1400" dirty="0">
                <a:solidFill>
                  <a:schemeClr val="bg1"/>
                </a:solidFill>
                <a:latin typeface="Helvetica" pitchFamily="2" charset="0"/>
              </a:rPr>
              <a:t>Enable human oversight for critical decisions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BC004826-21E4-99CB-712D-CD3FE5411DA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59547" y="2373504"/>
            <a:ext cx="640080" cy="6400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C5C1AA02-E199-4EF0-6024-8EBA79F99FB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02992" y="4371779"/>
            <a:ext cx="640080" cy="64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1984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IM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08A2D1"/>
      </a:accent1>
      <a:accent2>
        <a:srgbClr val="079A56"/>
      </a:accent2>
      <a:accent3>
        <a:srgbClr val="3A3257"/>
      </a:accent3>
      <a:accent4>
        <a:srgbClr val="722D79"/>
      </a:accent4>
      <a:accent5>
        <a:srgbClr val="FDD308"/>
      </a:accent5>
      <a:accent6>
        <a:srgbClr val="FEFFFF"/>
      </a:accent6>
      <a:hlink>
        <a:srgbClr val="0432FF"/>
      </a:hlink>
      <a:folHlink>
        <a:srgbClr val="955F7D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19111</TotalTime>
  <Words>574</Words>
  <Application>Microsoft Macintosh PowerPoint</Application>
  <PresentationFormat>Custom</PresentationFormat>
  <Paragraphs>137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Helvetica</vt:lpstr>
      <vt:lpstr>Wingdings</vt:lpstr>
      <vt:lpstr>Office Theme</vt:lpstr>
      <vt:lpstr>John Paul Aguinaldo Post-Graduate Diploma in AI and Machine Learning March 2026</vt:lpstr>
      <vt:lpstr>BUSINESS PROBLEM</vt:lpstr>
      <vt:lpstr>DATA AND INSIGHTS</vt:lpstr>
      <vt:lpstr>MACHINE LEARNING SOLUTION</vt:lpstr>
      <vt:lpstr>MODEL PERFORMANCE</vt:lpstr>
      <vt:lpstr>BUSINESS IMPACT &amp; ROI</vt:lpstr>
      <vt:lpstr>RISKS AND LIMITATIONS</vt:lpstr>
      <vt:lpstr>STRATEGY &amp; RECOMMENDATIONS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esgubat</dc:creator>
  <cp:lastModifiedBy>John Aguinaldo</cp:lastModifiedBy>
  <cp:revision>137</cp:revision>
  <cp:lastPrinted>2026-03-26T11:03:20Z</cp:lastPrinted>
  <dcterms:created xsi:type="dcterms:W3CDTF">2023-10-12T02:35:22Z</dcterms:created>
  <dcterms:modified xsi:type="dcterms:W3CDTF">2026-03-26T11:12:18Z</dcterms:modified>
</cp:coreProperties>
</file>